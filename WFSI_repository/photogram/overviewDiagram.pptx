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7"/>
  </p:notesMasterIdLst>
  <p:sldIdLst>
    <p:sldId id="260" r:id="rId2"/>
    <p:sldId id="256" r:id="rId3"/>
    <p:sldId id="257" r:id="rId4"/>
    <p:sldId id="258" r:id="rId5"/>
    <p:sldId id="259" r:id="rId6"/>
  </p:sldIdLst>
  <p:sldSz cx="9144000" cy="5143500" type="screen16x9"/>
  <p:notesSz cx="6858000" cy="9144000"/>
  <p:embeddedFontLst>
    <p:embeddedFont>
      <p:font typeface="Montserrat" pitchFamily="2" charset="77"/>
      <p:regular r:id="rId8"/>
      <p:bold r:id="rId9"/>
      <p:italic r:id="rId10"/>
      <p:boldItalic r:id="rId11"/>
    </p:embeddedFont>
    <p:embeddedFont>
      <p:font typeface="Roboto" panose="02000000000000000000" pitchFamily="2"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font" Target="fonts/font8.fntdata"/><Relationship Id="rId10" Type="http://schemas.openxmlformats.org/officeDocument/2006/relationships/font" Target="fonts/font3.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1821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66ac975f6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66ac975f6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2052b988883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2052b988883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2052b98888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2052b98888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64050" y="539300"/>
            <a:ext cx="660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Step1</a:t>
            </a:r>
            <a:endParaRPr sz="1000"/>
          </a:p>
        </p:txBody>
      </p:sp>
      <p:sp>
        <p:nvSpPr>
          <p:cNvPr id="55" name="Google Shape;55;p13"/>
          <p:cNvSpPr/>
          <p:nvPr/>
        </p:nvSpPr>
        <p:spPr>
          <a:xfrm>
            <a:off x="164050" y="798488"/>
            <a:ext cx="2542200" cy="483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01getFramesFromVideo.py</a:t>
            </a:r>
            <a:endParaRPr dirty="0"/>
          </a:p>
        </p:txBody>
      </p:sp>
      <p:sp>
        <p:nvSpPr>
          <p:cNvPr id="56" name="Google Shape;56;p13"/>
          <p:cNvSpPr/>
          <p:nvPr/>
        </p:nvSpPr>
        <p:spPr>
          <a:xfrm>
            <a:off x="3468975" y="556538"/>
            <a:ext cx="1344900" cy="304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01inputVideos</a:t>
            </a:r>
            <a:endParaRPr/>
          </a:p>
        </p:txBody>
      </p:sp>
      <p:sp>
        <p:nvSpPr>
          <p:cNvPr id="57" name="Google Shape;57;p13"/>
          <p:cNvSpPr/>
          <p:nvPr/>
        </p:nvSpPr>
        <p:spPr>
          <a:xfrm>
            <a:off x="3468975" y="1082288"/>
            <a:ext cx="2132400" cy="40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01pngFilesUnreviewed</a:t>
            </a:r>
            <a:endParaRPr/>
          </a:p>
        </p:txBody>
      </p:sp>
      <p:sp>
        <p:nvSpPr>
          <p:cNvPr id="58" name="Google Shape;58;p13"/>
          <p:cNvSpPr/>
          <p:nvPr/>
        </p:nvSpPr>
        <p:spPr>
          <a:xfrm>
            <a:off x="3468975" y="1704038"/>
            <a:ext cx="2132400" cy="40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02pngFilesReviewed</a:t>
            </a:r>
            <a:endParaRPr/>
          </a:p>
        </p:txBody>
      </p:sp>
      <p:sp>
        <p:nvSpPr>
          <p:cNvPr id="59" name="Google Shape;59;p13"/>
          <p:cNvSpPr txBox="1"/>
          <p:nvPr/>
        </p:nvSpPr>
        <p:spPr>
          <a:xfrm>
            <a:off x="565875" y="61800"/>
            <a:ext cx="1287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Scripts</a:t>
            </a:r>
            <a:endParaRPr/>
          </a:p>
        </p:txBody>
      </p:sp>
      <p:sp>
        <p:nvSpPr>
          <p:cNvPr id="60" name="Google Shape;60;p13"/>
          <p:cNvSpPr txBox="1"/>
          <p:nvPr/>
        </p:nvSpPr>
        <p:spPr>
          <a:xfrm>
            <a:off x="6765750" y="131225"/>
            <a:ext cx="1148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Manual</a:t>
            </a:r>
            <a:endParaRPr/>
          </a:p>
        </p:txBody>
      </p:sp>
      <p:sp>
        <p:nvSpPr>
          <p:cNvPr id="61" name="Google Shape;61;p13"/>
          <p:cNvSpPr/>
          <p:nvPr/>
        </p:nvSpPr>
        <p:spPr>
          <a:xfrm>
            <a:off x="6519725" y="1393913"/>
            <a:ext cx="1935300" cy="400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Review pngs</a:t>
            </a:r>
            <a:endParaRPr/>
          </a:p>
        </p:txBody>
      </p:sp>
      <p:sp>
        <p:nvSpPr>
          <p:cNvPr id="62" name="Google Shape;62;p13"/>
          <p:cNvSpPr/>
          <p:nvPr/>
        </p:nvSpPr>
        <p:spPr>
          <a:xfrm>
            <a:off x="164050" y="1922525"/>
            <a:ext cx="2542200" cy="483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createModelWithoutMarkersAgisoft1.py</a:t>
            </a:r>
            <a:endParaRPr dirty="0"/>
          </a:p>
        </p:txBody>
      </p:sp>
      <p:sp>
        <p:nvSpPr>
          <p:cNvPr id="63" name="Google Shape;63;p13"/>
          <p:cNvSpPr/>
          <p:nvPr/>
        </p:nvSpPr>
        <p:spPr>
          <a:xfrm>
            <a:off x="3468975" y="2365613"/>
            <a:ext cx="2132400" cy="40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03AgisoftModels</a:t>
            </a:r>
            <a:endParaRPr/>
          </a:p>
        </p:txBody>
      </p:sp>
      <p:sp>
        <p:nvSpPr>
          <p:cNvPr id="64" name="Google Shape;64;p13"/>
          <p:cNvSpPr/>
          <p:nvPr/>
        </p:nvSpPr>
        <p:spPr>
          <a:xfrm>
            <a:off x="6519675" y="2958956"/>
            <a:ext cx="2004073" cy="1459242"/>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Use </a:t>
            </a:r>
            <a:r>
              <a:rPr lang="en" dirty="0" err="1"/>
              <a:t>CloudCompare</a:t>
            </a:r>
            <a:r>
              <a:rPr lang="en" dirty="0"/>
              <a:t> to segment out </a:t>
            </a:r>
            <a:r>
              <a:rPr lang="en" dirty="0" err="1"/>
              <a:t>clipplots</a:t>
            </a:r>
            <a:r>
              <a:rPr lang="en" dirty="0"/>
              <a:t>. Uses </a:t>
            </a:r>
            <a:r>
              <a:rPr lang="en" dirty="0" err="1"/>
              <a:t>centeredsquare.shp</a:t>
            </a:r>
            <a:r>
              <a:rPr lang="en" dirty="0"/>
              <a:t>. Move square, then segment. </a:t>
            </a:r>
            <a:endParaRPr dirty="0"/>
          </a:p>
        </p:txBody>
      </p:sp>
      <p:sp>
        <p:nvSpPr>
          <p:cNvPr id="65" name="Google Shape;65;p13"/>
          <p:cNvSpPr/>
          <p:nvPr/>
        </p:nvSpPr>
        <p:spPr>
          <a:xfrm>
            <a:off x="6519725" y="2320313"/>
            <a:ext cx="1935300" cy="400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Review models, if bad, add markers. </a:t>
            </a:r>
            <a:endParaRPr/>
          </a:p>
        </p:txBody>
      </p:sp>
      <p:sp>
        <p:nvSpPr>
          <p:cNvPr id="66" name="Google Shape;66;p13"/>
          <p:cNvSpPr/>
          <p:nvPr/>
        </p:nvSpPr>
        <p:spPr>
          <a:xfrm>
            <a:off x="164050" y="2823950"/>
            <a:ext cx="2542200" cy="483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a:t>createModelAfterMarkersAgisoft2.py (if added markers)</a:t>
            </a:r>
            <a:endParaRPr dirty="0"/>
          </a:p>
        </p:txBody>
      </p:sp>
      <p:sp>
        <p:nvSpPr>
          <p:cNvPr id="67" name="Google Shape;67;p13"/>
          <p:cNvSpPr/>
          <p:nvPr/>
        </p:nvSpPr>
        <p:spPr>
          <a:xfrm>
            <a:off x="3468938" y="3207938"/>
            <a:ext cx="2132400" cy="40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04CloudCompareTxt</a:t>
            </a:r>
            <a:endParaRPr/>
          </a:p>
        </p:txBody>
      </p:sp>
      <p:sp>
        <p:nvSpPr>
          <p:cNvPr id="68" name="Google Shape;68;p13"/>
          <p:cNvSpPr/>
          <p:nvPr/>
        </p:nvSpPr>
        <p:spPr>
          <a:xfrm>
            <a:off x="163925" y="3675425"/>
            <a:ext cx="2542200" cy="483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err="1"/>
              <a:t>sfmNormalize_RGB.R</a:t>
            </a:r>
            <a:endParaRPr dirty="0"/>
          </a:p>
        </p:txBody>
      </p:sp>
      <p:sp>
        <p:nvSpPr>
          <p:cNvPr id="69" name="Google Shape;69;p13"/>
          <p:cNvSpPr/>
          <p:nvPr/>
        </p:nvSpPr>
        <p:spPr>
          <a:xfrm>
            <a:off x="3468938" y="3869513"/>
            <a:ext cx="2132400" cy="40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05Normalized</a:t>
            </a:r>
            <a:endParaRPr/>
          </a:p>
        </p:txBody>
      </p:sp>
      <p:cxnSp>
        <p:nvCxnSpPr>
          <p:cNvPr id="70" name="Google Shape;70;p13"/>
          <p:cNvCxnSpPr>
            <a:stCxn id="56" idx="1"/>
            <a:endCxn id="55" idx="3"/>
          </p:cNvCxnSpPr>
          <p:nvPr/>
        </p:nvCxnSpPr>
        <p:spPr>
          <a:xfrm flipH="1">
            <a:off x="2706375" y="708638"/>
            <a:ext cx="762600" cy="331800"/>
          </a:xfrm>
          <a:prstGeom prst="straightConnector1">
            <a:avLst/>
          </a:prstGeom>
          <a:noFill/>
          <a:ln w="9525" cap="flat" cmpd="sng">
            <a:solidFill>
              <a:schemeClr val="dk2"/>
            </a:solidFill>
            <a:prstDash val="solid"/>
            <a:round/>
            <a:headEnd type="none" w="med" len="med"/>
            <a:tailEnd type="triangle" w="med" len="med"/>
          </a:ln>
        </p:spPr>
      </p:cxnSp>
      <p:cxnSp>
        <p:nvCxnSpPr>
          <p:cNvPr id="71" name="Google Shape;71;p13"/>
          <p:cNvCxnSpPr>
            <a:stCxn id="55" idx="3"/>
            <a:endCxn id="57" idx="1"/>
          </p:cNvCxnSpPr>
          <p:nvPr/>
        </p:nvCxnSpPr>
        <p:spPr>
          <a:xfrm>
            <a:off x="2706250" y="1040438"/>
            <a:ext cx="762600" cy="242100"/>
          </a:xfrm>
          <a:prstGeom prst="straightConnector1">
            <a:avLst/>
          </a:prstGeom>
          <a:noFill/>
          <a:ln w="9525" cap="flat" cmpd="sng">
            <a:solidFill>
              <a:schemeClr val="dk2"/>
            </a:solidFill>
            <a:prstDash val="solid"/>
            <a:round/>
            <a:headEnd type="none" w="med" len="med"/>
            <a:tailEnd type="triangle" w="med" len="med"/>
          </a:ln>
        </p:spPr>
      </p:cxnSp>
      <p:cxnSp>
        <p:nvCxnSpPr>
          <p:cNvPr id="72" name="Google Shape;72;p13"/>
          <p:cNvCxnSpPr>
            <a:stCxn id="57" idx="3"/>
            <a:endCxn id="61" idx="1"/>
          </p:cNvCxnSpPr>
          <p:nvPr/>
        </p:nvCxnSpPr>
        <p:spPr>
          <a:xfrm>
            <a:off x="5601375" y="1282388"/>
            <a:ext cx="918300" cy="311700"/>
          </a:xfrm>
          <a:prstGeom prst="straightConnector1">
            <a:avLst/>
          </a:prstGeom>
          <a:noFill/>
          <a:ln w="9525" cap="flat" cmpd="sng">
            <a:solidFill>
              <a:schemeClr val="dk2"/>
            </a:solidFill>
            <a:prstDash val="solid"/>
            <a:round/>
            <a:headEnd type="none" w="med" len="med"/>
            <a:tailEnd type="triangle" w="med" len="med"/>
          </a:ln>
        </p:spPr>
      </p:cxnSp>
      <p:cxnSp>
        <p:nvCxnSpPr>
          <p:cNvPr id="73" name="Google Shape;73;p13"/>
          <p:cNvCxnSpPr>
            <a:stCxn id="61" idx="1"/>
            <a:endCxn id="58" idx="3"/>
          </p:cNvCxnSpPr>
          <p:nvPr/>
        </p:nvCxnSpPr>
        <p:spPr>
          <a:xfrm flipH="1">
            <a:off x="5601425" y="1594013"/>
            <a:ext cx="918300" cy="310200"/>
          </a:xfrm>
          <a:prstGeom prst="straightConnector1">
            <a:avLst/>
          </a:prstGeom>
          <a:noFill/>
          <a:ln w="9525" cap="flat" cmpd="sng">
            <a:solidFill>
              <a:schemeClr val="dk2"/>
            </a:solidFill>
            <a:prstDash val="solid"/>
            <a:round/>
            <a:headEnd type="none" w="med" len="med"/>
            <a:tailEnd type="triangle" w="med" len="med"/>
          </a:ln>
        </p:spPr>
      </p:cxnSp>
      <p:cxnSp>
        <p:nvCxnSpPr>
          <p:cNvPr id="74" name="Google Shape;74;p13"/>
          <p:cNvCxnSpPr>
            <a:stCxn id="58" idx="1"/>
            <a:endCxn id="62" idx="3"/>
          </p:cNvCxnSpPr>
          <p:nvPr/>
        </p:nvCxnSpPr>
        <p:spPr>
          <a:xfrm flipH="1">
            <a:off x="2706375" y="1904138"/>
            <a:ext cx="762600" cy="260400"/>
          </a:xfrm>
          <a:prstGeom prst="straightConnector1">
            <a:avLst/>
          </a:prstGeom>
          <a:noFill/>
          <a:ln w="9525" cap="flat" cmpd="sng">
            <a:solidFill>
              <a:schemeClr val="dk2"/>
            </a:solidFill>
            <a:prstDash val="solid"/>
            <a:round/>
            <a:headEnd type="none" w="med" len="med"/>
            <a:tailEnd type="triangle" w="med" len="med"/>
          </a:ln>
        </p:spPr>
      </p:cxnSp>
      <p:cxnSp>
        <p:nvCxnSpPr>
          <p:cNvPr id="75" name="Google Shape;75;p13"/>
          <p:cNvCxnSpPr>
            <a:stCxn id="62" idx="3"/>
            <a:endCxn id="63" idx="1"/>
          </p:cNvCxnSpPr>
          <p:nvPr/>
        </p:nvCxnSpPr>
        <p:spPr>
          <a:xfrm>
            <a:off x="2706250" y="2164475"/>
            <a:ext cx="762600" cy="401100"/>
          </a:xfrm>
          <a:prstGeom prst="straightConnector1">
            <a:avLst/>
          </a:prstGeom>
          <a:noFill/>
          <a:ln w="9525" cap="flat" cmpd="sng">
            <a:solidFill>
              <a:schemeClr val="dk2"/>
            </a:solidFill>
            <a:prstDash val="solid"/>
            <a:round/>
            <a:headEnd type="none" w="med" len="med"/>
            <a:tailEnd type="triangle" w="med" len="med"/>
          </a:ln>
        </p:spPr>
      </p:cxnSp>
      <p:cxnSp>
        <p:nvCxnSpPr>
          <p:cNvPr id="76" name="Google Shape;76;p13"/>
          <p:cNvCxnSpPr>
            <a:stCxn id="63" idx="3"/>
            <a:endCxn id="65" idx="1"/>
          </p:cNvCxnSpPr>
          <p:nvPr/>
        </p:nvCxnSpPr>
        <p:spPr>
          <a:xfrm rot="10800000" flipH="1">
            <a:off x="5601375" y="2520413"/>
            <a:ext cx="918300" cy="45300"/>
          </a:xfrm>
          <a:prstGeom prst="straightConnector1">
            <a:avLst/>
          </a:prstGeom>
          <a:noFill/>
          <a:ln w="9525" cap="flat" cmpd="sng">
            <a:solidFill>
              <a:schemeClr val="dk2"/>
            </a:solidFill>
            <a:prstDash val="solid"/>
            <a:round/>
            <a:headEnd type="none" w="med" len="med"/>
            <a:tailEnd type="triangle" w="med" len="med"/>
          </a:ln>
        </p:spPr>
      </p:cxnSp>
      <p:cxnSp>
        <p:nvCxnSpPr>
          <p:cNvPr id="78" name="Google Shape;78;p13"/>
          <p:cNvCxnSpPr>
            <a:cxnSpLocks/>
          </p:cNvCxnSpPr>
          <p:nvPr/>
        </p:nvCxnSpPr>
        <p:spPr>
          <a:xfrm flipV="1">
            <a:off x="2706125" y="2695482"/>
            <a:ext cx="762725" cy="500187"/>
          </a:xfrm>
          <a:prstGeom prst="straightConnector1">
            <a:avLst/>
          </a:prstGeom>
          <a:noFill/>
          <a:ln w="9525" cap="flat" cmpd="sng">
            <a:solidFill>
              <a:schemeClr val="dk2"/>
            </a:solidFill>
            <a:prstDash val="solid"/>
            <a:round/>
            <a:headEnd type="none" w="med" len="med"/>
            <a:tailEnd type="triangle" w="med" len="med"/>
          </a:ln>
        </p:spPr>
      </p:cxnSp>
      <p:cxnSp>
        <p:nvCxnSpPr>
          <p:cNvPr id="79" name="Google Shape;79;p13"/>
          <p:cNvCxnSpPr>
            <a:cxnSpLocks/>
            <a:stCxn id="63" idx="3"/>
            <a:endCxn id="64" idx="1"/>
          </p:cNvCxnSpPr>
          <p:nvPr/>
        </p:nvCxnSpPr>
        <p:spPr>
          <a:xfrm>
            <a:off x="5601375" y="2565713"/>
            <a:ext cx="918300" cy="1122864"/>
          </a:xfrm>
          <a:prstGeom prst="straightConnector1">
            <a:avLst/>
          </a:prstGeom>
          <a:noFill/>
          <a:ln w="9525" cap="flat" cmpd="sng">
            <a:solidFill>
              <a:schemeClr val="dk2"/>
            </a:solidFill>
            <a:prstDash val="solid"/>
            <a:round/>
            <a:headEnd type="none" w="med" len="med"/>
            <a:tailEnd type="triangle" w="med" len="med"/>
          </a:ln>
        </p:spPr>
      </p:cxnSp>
      <p:cxnSp>
        <p:nvCxnSpPr>
          <p:cNvPr id="80" name="Google Shape;80;p13"/>
          <p:cNvCxnSpPr>
            <a:cxnSpLocks/>
            <a:stCxn id="64" idx="1"/>
            <a:endCxn id="67" idx="3"/>
          </p:cNvCxnSpPr>
          <p:nvPr/>
        </p:nvCxnSpPr>
        <p:spPr>
          <a:xfrm flipH="1" flipV="1">
            <a:off x="5601338" y="3408038"/>
            <a:ext cx="918337" cy="280539"/>
          </a:xfrm>
          <a:prstGeom prst="straightConnector1">
            <a:avLst/>
          </a:prstGeom>
          <a:noFill/>
          <a:ln w="9525" cap="flat" cmpd="sng">
            <a:solidFill>
              <a:schemeClr val="dk2"/>
            </a:solidFill>
            <a:prstDash val="solid"/>
            <a:round/>
            <a:headEnd type="none" w="med" len="med"/>
            <a:tailEnd type="triangle" w="med" len="med"/>
          </a:ln>
        </p:spPr>
      </p:cxnSp>
      <p:cxnSp>
        <p:nvCxnSpPr>
          <p:cNvPr id="81" name="Google Shape;81;p13"/>
          <p:cNvCxnSpPr>
            <a:stCxn id="67" idx="1"/>
            <a:endCxn id="68" idx="3"/>
          </p:cNvCxnSpPr>
          <p:nvPr/>
        </p:nvCxnSpPr>
        <p:spPr>
          <a:xfrm flipH="1">
            <a:off x="2706125" y="3408038"/>
            <a:ext cx="762813" cy="509337"/>
          </a:xfrm>
          <a:prstGeom prst="straightConnector1">
            <a:avLst/>
          </a:prstGeom>
          <a:noFill/>
          <a:ln w="9525" cap="flat" cmpd="sng">
            <a:solidFill>
              <a:schemeClr val="dk2"/>
            </a:solidFill>
            <a:prstDash val="solid"/>
            <a:round/>
            <a:headEnd type="none" w="med" len="med"/>
            <a:tailEnd type="triangle" w="med" len="med"/>
          </a:ln>
        </p:spPr>
      </p:cxnSp>
      <p:cxnSp>
        <p:nvCxnSpPr>
          <p:cNvPr id="82" name="Google Shape;82;p13"/>
          <p:cNvCxnSpPr>
            <a:stCxn id="68" idx="3"/>
            <a:endCxn id="69" idx="1"/>
          </p:cNvCxnSpPr>
          <p:nvPr/>
        </p:nvCxnSpPr>
        <p:spPr>
          <a:xfrm>
            <a:off x="2706125" y="3917375"/>
            <a:ext cx="762813" cy="152238"/>
          </a:xfrm>
          <a:prstGeom prst="straightConnector1">
            <a:avLst/>
          </a:prstGeom>
          <a:noFill/>
          <a:ln w="9525" cap="flat" cmpd="sng">
            <a:solidFill>
              <a:schemeClr val="dk2"/>
            </a:solidFill>
            <a:prstDash val="solid"/>
            <a:round/>
            <a:headEnd type="none" w="med" len="med"/>
            <a:tailEnd type="triangle" w="med" len="med"/>
          </a:ln>
        </p:spPr>
      </p:cxnSp>
      <p:sp>
        <p:nvSpPr>
          <p:cNvPr id="83" name="Google Shape;83;p13"/>
          <p:cNvSpPr txBox="1"/>
          <p:nvPr/>
        </p:nvSpPr>
        <p:spPr>
          <a:xfrm>
            <a:off x="3468975" y="131225"/>
            <a:ext cx="2345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Folders</a:t>
            </a:r>
            <a:endParaRPr/>
          </a:p>
        </p:txBody>
      </p:sp>
      <p:sp>
        <p:nvSpPr>
          <p:cNvPr id="84" name="Google Shape;84;p13"/>
          <p:cNvSpPr txBox="1"/>
          <p:nvPr/>
        </p:nvSpPr>
        <p:spPr>
          <a:xfrm>
            <a:off x="6519725" y="1113050"/>
            <a:ext cx="795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Step 2</a:t>
            </a:r>
            <a:endParaRPr sz="1000"/>
          </a:p>
        </p:txBody>
      </p:sp>
      <p:sp>
        <p:nvSpPr>
          <p:cNvPr id="85" name="Google Shape;85;p13"/>
          <p:cNvSpPr txBox="1"/>
          <p:nvPr/>
        </p:nvSpPr>
        <p:spPr>
          <a:xfrm>
            <a:off x="164050" y="1651550"/>
            <a:ext cx="660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Step 3a</a:t>
            </a:r>
            <a:endParaRPr sz="1000"/>
          </a:p>
        </p:txBody>
      </p:sp>
      <p:sp>
        <p:nvSpPr>
          <p:cNvPr id="86" name="Google Shape;86;p13"/>
          <p:cNvSpPr txBox="1"/>
          <p:nvPr/>
        </p:nvSpPr>
        <p:spPr>
          <a:xfrm>
            <a:off x="6519725" y="2033375"/>
            <a:ext cx="795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Step 3b</a:t>
            </a:r>
            <a:endParaRPr sz="1000" dirty="0"/>
          </a:p>
        </p:txBody>
      </p:sp>
      <p:sp>
        <p:nvSpPr>
          <p:cNvPr id="87" name="Google Shape;87;p13"/>
          <p:cNvSpPr txBox="1"/>
          <p:nvPr/>
        </p:nvSpPr>
        <p:spPr>
          <a:xfrm>
            <a:off x="164050" y="2520425"/>
            <a:ext cx="795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Step 3c</a:t>
            </a:r>
            <a:endParaRPr sz="1000"/>
          </a:p>
        </p:txBody>
      </p:sp>
      <p:sp>
        <p:nvSpPr>
          <p:cNvPr id="88" name="Google Shape;88;p13"/>
          <p:cNvSpPr txBox="1"/>
          <p:nvPr/>
        </p:nvSpPr>
        <p:spPr>
          <a:xfrm>
            <a:off x="6519675" y="2700587"/>
            <a:ext cx="582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Step 4</a:t>
            </a:r>
            <a:endParaRPr sz="1000" dirty="0"/>
          </a:p>
        </p:txBody>
      </p:sp>
      <p:sp>
        <p:nvSpPr>
          <p:cNvPr id="89" name="Google Shape;89;p13"/>
          <p:cNvSpPr txBox="1"/>
          <p:nvPr/>
        </p:nvSpPr>
        <p:spPr>
          <a:xfrm>
            <a:off x="159389" y="3390125"/>
            <a:ext cx="582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Step 5</a:t>
            </a:r>
            <a:endParaRPr sz="1000" dirty="0"/>
          </a:p>
        </p:txBody>
      </p:sp>
      <p:cxnSp>
        <p:nvCxnSpPr>
          <p:cNvPr id="39" name="Google Shape;78;p13">
            <a:extLst>
              <a:ext uri="{FF2B5EF4-FFF2-40B4-BE49-F238E27FC236}">
                <a16:creationId xmlns:a16="http://schemas.microsoft.com/office/drawing/2014/main" id="{D12939B3-B5F6-D941-B23B-D3230922AD8A}"/>
              </a:ext>
            </a:extLst>
          </p:cNvPr>
          <p:cNvCxnSpPr>
            <a:cxnSpLocks/>
          </p:cNvCxnSpPr>
          <p:nvPr/>
        </p:nvCxnSpPr>
        <p:spPr>
          <a:xfrm flipH="1">
            <a:off x="2706201" y="2586188"/>
            <a:ext cx="762649" cy="487425"/>
          </a:xfrm>
          <a:prstGeom prst="straightConnector1">
            <a:avLst/>
          </a:prstGeom>
          <a:noFill/>
          <a:ln w="9525" cap="flat" cmpd="sng">
            <a:solidFill>
              <a:schemeClr val="dk2"/>
            </a:solidFill>
            <a:prstDash val="solid"/>
            <a:round/>
            <a:headEnd type="none" w="med" len="med"/>
            <a:tailEnd type="triangle" w="med" len="med"/>
          </a:ln>
        </p:spPr>
      </p:cxnSp>
      <p:sp>
        <p:nvSpPr>
          <p:cNvPr id="50" name="Google Shape;68;p13">
            <a:extLst>
              <a:ext uri="{FF2B5EF4-FFF2-40B4-BE49-F238E27FC236}">
                <a16:creationId xmlns:a16="http://schemas.microsoft.com/office/drawing/2014/main" id="{BD19F62C-6CD1-7E47-885E-7E788C420C82}"/>
              </a:ext>
            </a:extLst>
          </p:cNvPr>
          <p:cNvSpPr/>
          <p:nvPr/>
        </p:nvSpPr>
        <p:spPr>
          <a:xfrm>
            <a:off x="163925" y="4342613"/>
            <a:ext cx="2542200" cy="4839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dirty="0" err="1"/>
              <a:t>sfmShiftXYvalues.R</a:t>
            </a:r>
            <a:endParaRPr dirty="0"/>
          </a:p>
        </p:txBody>
      </p:sp>
      <p:cxnSp>
        <p:nvCxnSpPr>
          <p:cNvPr id="51" name="Google Shape;78;p13">
            <a:extLst>
              <a:ext uri="{FF2B5EF4-FFF2-40B4-BE49-F238E27FC236}">
                <a16:creationId xmlns:a16="http://schemas.microsoft.com/office/drawing/2014/main" id="{611D0F19-CD71-8440-8621-37C73A85ABF6}"/>
              </a:ext>
            </a:extLst>
          </p:cNvPr>
          <p:cNvCxnSpPr>
            <a:cxnSpLocks/>
          </p:cNvCxnSpPr>
          <p:nvPr/>
        </p:nvCxnSpPr>
        <p:spPr>
          <a:xfrm flipH="1">
            <a:off x="2706125" y="4090988"/>
            <a:ext cx="762649" cy="487425"/>
          </a:xfrm>
          <a:prstGeom prst="straightConnector1">
            <a:avLst/>
          </a:prstGeom>
          <a:noFill/>
          <a:ln w="9525" cap="flat" cmpd="sng">
            <a:solidFill>
              <a:schemeClr val="dk2"/>
            </a:solidFill>
            <a:prstDash val="solid"/>
            <a:round/>
            <a:headEnd type="none" w="med" len="med"/>
            <a:tailEnd type="triangle" w="med" len="med"/>
          </a:ln>
        </p:spPr>
      </p:cxnSp>
      <p:cxnSp>
        <p:nvCxnSpPr>
          <p:cNvPr id="52" name="Google Shape;78;p13">
            <a:extLst>
              <a:ext uri="{FF2B5EF4-FFF2-40B4-BE49-F238E27FC236}">
                <a16:creationId xmlns:a16="http://schemas.microsoft.com/office/drawing/2014/main" id="{F949816C-3C34-304B-9FC1-BDB745FA4F38}"/>
              </a:ext>
            </a:extLst>
          </p:cNvPr>
          <p:cNvCxnSpPr>
            <a:cxnSpLocks/>
          </p:cNvCxnSpPr>
          <p:nvPr/>
        </p:nvCxnSpPr>
        <p:spPr>
          <a:xfrm flipV="1">
            <a:off x="2710585" y="4173970"/>
            <a:ext cx="762725" cy="500187"/>
          </a:xfrm>
          <a:prstGeom prst="straightConnector1">
            <a:avLst/>
          </a:prstGeom>
          <a:noFill/>
          <a:ln w="9525" cap="flat" cmpd="sng">
            <a:solidFill>
              <a:schemeClr val="dk2"/>
            </a:solidFill>
            <a:prstDash val="solid"/>
            <a:round/>
            <a:headEnd type="none" w="med" len="med"/>
            <a:tailEnd type="triangle" w="med" len="med"/>
          </a:ln>
        </p:spPr>
      </p:cxnSp>
      <p:sp>
        <p:nvSpPr>
          <p:cNvPr id="53" name="Google Shape;61;p13">
            <a:extLst>
              <a:ext uri="{FF2B5EF4-FFF2-40B4-BE49-F238E27FC236}">
                <a16:creationId xmlns:a16="http://schemas.microsoft.com/office/drawing/2014/main" id="{648C59B1-D2B9-7947-9293-79CD05322948}"/>
              </a:ext>
            </a:extLst>
          </p:cNvPr>
          <p:cNvSpPr/>
          <p:nvPr/>
        </p:nvSpPr>
        <p:spPr>
          <a:xfrm>
            <a:off x="6588497" y="4673091"/>
            <a:ext cx="1935300" cy="400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C</a:t>
            </a:r>
            <a:r>
              <a:rPr lang="en" dirty="0" err="1"/>
              <a:t>opy</a:t>
            </a:r>
            <a:r>
              <a:rPr lang="en" dirty="0"/>
              <a:t> files</a:t>
            </a:r>
            <a:endParaRPr dirty="0"/>
          </a:p>
        </p:txBody>
      </p:sp>
      <p:sp>
        <p:nvSpPr>
          <p:cNvPr id="90" name="Google Shape;69;p13">
            <a:extLst>
              <a:ext uri="{FF2B5EF4-FFF2-40B4-BE49-F238E27FC236}">
                <a16:creationId xmlns:a16="http://schemas.microsoft.com/office/drawing/2014/main" id="{C0A64196-8A36-2C4B-893F-0B42AF3F58D8}"/>
              </a:ext>
            </a:extLst>
          </p:cNvPr>
          <p:cNvSpPr/>
          <p:nvPr/>
        </p:nvSpPr>
        <p:spPr>
          <a:xfrm>
            <a:off x="3468774" y="4662204"/>
            <a:ext cx="2132400" cy="4002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dirty="0"/>
              <a:t>&lt;site&gt;</a:t>
            </a:r>
          </a:p>
          <a:p>
            <a:pPr marL="0" lvl="0" indent="0" algn="l" rtl="0">
              <a:spcBef>
                <a:spcPts val="0"/>
              </a:spcBef>
              <a:spcAft>
                <a:spcPts val="0"/>
              </a:spcAft>
              <a:buNone/>
            </a:pPr>
            <a:r>
              <a:rPr lang="en" sz="1200" dirty="0"/>
              <a:t>/photogram/</a:t>
            </a:r>
            <a:r>
              <a:rPr lang="en" sz="1200" dirty="0" err="1"/>
              <a:t>cr_sfm</a:t>
            </a:r>
            <a:r>
              <a:rPr lang="en" sz="1200" dirty="0"/>
              <a:t>/norm</a:t>
            </a:r>
            <a:endParaRPr sz="1200" dirty="0"/>
          </a:p>
        </p:txBody>
      </p:sp>
      <p:cxnSp>
        <p:nvCxnSpPr>
          <p:cNvPr id="91" name="Google Shape;79;p13">
            <a:extLst>
              <a:ext uri="{FF2B5EF4-FFF2-40B4-BE49-F238E27FC236}">
                <a16:creationId xmlns:a16="http://schemas.microsoft.com/office/drawing/2014/main" id="{AFEAAD7E-557F-E14C-8105-7429AB68F506}"/>
              </a:ext>
            </a:extLst>
          </p:cNvPr>
          <p:cNvCxnSpPr>
            <a:cxnSpLocks/>
            <a:stCxn id="69" idx="3"/>
            <a:endCxn id="53" idx="1"/>
          </p:cNvCxnSpPr>
          <p:nvPr/>
        </p:nvCxnSpPr>
        <p:spPr>
          <a:xfrm>
            <a:off x="5601338" y="4069613"/>
            <a:ext cx="987159" cy="803578"/>
          </a:xfrm>
          <a:prstGeom prst="straightConnector1">
            <a:avLst/>
          </a:prstGeom>
          <a:noFill/>
          <a:ln w="9525" cap="flat" cmpd="sng">
            <a:solidFill>
              <a:schemeClr val="dk2"/>
            </a:solidFill>
            <a:prstDash val="solid"/>
            <a:round/>
            <a:headEnd type="none" w="med" len="med"/>
            <a:tailEnd type="triangle" w="med" len="med"/>
          </a:ln>
        </p:spPr>
      </p:cxnSp>
      <p:cxnSp>
        <p:nvCxnSpPr>
          <p:cNvPr id="92" name="Google Shape;80;p13">
            <a:extLst>
              <a:ext uri="{FF2B5EF4-FFF2-40B4-BE49-F238E27FC236}">
                <a16:creationId xmlns:a16="http://schemas.microsoft.com/office/drawing/2014/main" id="{A0E85951-40AF-5047-97B7-256153CCA8F4}"/>
              </a:ext>
            </a:extLst>
          </p:cNvPr>
          <p:cNvCxnSpPr>
            <a:cxnSpLocks/>
            <a:stCxn id="53" idx="1"/>
            <a:endCxn id="90" idx="3"/>
          </p:cNvCxnSpPr>
          <p:nvPr/>
        </p:nvCxnSpPr>
        <p:spPr>
          <a:xfrm flipH="1" flipV="1">
            <a:off x="5601174" y="4862304"/>
            <a:ext cx="987323" cy="10887"/>
          </a:xfrm>
          <a:prstGeom prst="straightConnector1">
            <a:avLst/>
          </a:prstGeom>
          <a:noFill/>
          <a:ln w="9525" cap="flat" cmpd="sng">
            <a:solidFill>
              <a:schemeClr val="dk2"/>
            </a:solidFill>
            <a:prstDash val="solid"/>
            <a:round/>
            <a:headEnd type="none" w="med" len="med"/>
            <a:tailEnd type="triangle" w="med" len="med"/>
          </a:ln>
        </p:spPr>
      </p:cxnSp>
      <p:sp>
        <p:nvSpPr>
          <p:cNvPr id="46" name="Google Shape;89;p13">
            <a:extLst>
              <a:ext uri="{FF2B5EF4-FFF2-40B4-BE49-F238E27FC236}">
                <a16:creationId xmlns:a16="http://schemas.microsoft.com/office/drawing/2014/main" id="{492C7B68-00A7-2843-824F-1BD5472C988A}"/>
              </a:ext>
            </a:extLst>
          </p:cNvPr>
          <p:cNvSpPr txBox="1"/>
          <p:nvPr/>
        </p:nvSpPr>
        <p:spPr>
          <a:xfrm>
            <a:off x="159389" y="4069613"/>
            <a:ext cx="582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Step 6</a:t>
            </a:r>
            <a:endParaRPr sz="1000" dirty="0"/>
          </a:p>
        </p:txBody>
      </p:sp>
      <p:sp>
        <p:nvSpPr>
          <p:cNvPr id="49" name="Google Shape;86;p13">
            <a:extLst>
              <a:ext uri="{FF2B5EF4-FFF2-40B4-BE49-F238E27FC236}">
                <a16:creationId xmlns:a16="http://schemas.microsoft.com/office/drawing/2014/main" id="{ECAC0454-786C-6E44-8A12-E6AAC87EBF6C}"/>
              </a:ext>
            </a:extLst>
          </p:cNvPr>
          <p:cNvSpPr txBox="1"/>
          <p:nvPr/>
        </p:nvSpPr>
        <p:spPr>
          <a:xfrm>
            <a:off x="6588333" y="4390102"/>
            <a:ext cx="795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dirty="0"/>
              <a:t>Step 7</a:t>
            </a:r>
            <a:endParaRPr sz="1000" dirty="0"/>
          </a:p>
        </p:txBody>
      </p:sp>
    </p:spTree>
    <p:extLst>
      <p:ext uri="{BB962C8B-B14F-4D97-AF65-F5344CB8AC3E}">
        <p14:creationId xmlns:p14="http://schemas.microsoft.com/office/powerpoint/2010/main" val="162409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p:nvPr/>
        </p:nvSpPr>
        <p:spPr>
          <a:xfrm>
            <a:off x="6949713" y="3842950"/>
            <a:ext cx="1163700" cy="8169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Point cloud for voxel plot (.laz or .las)</a:t>
            </a:r>
            <a:endParaRPr sz="1200">
              <a:latin typeface="Roboto"/>
              <a:ea typeface="Roboto"/>
              <a:cs typeface="Roboto"/>
              <a:sym typeface="Roboto"/>
            </a:endParaRPr>
          </a:p>
        </p:txBody>
      </p:sp>
      <p:sp>
        <p:nvSpPr>
          <p:cNvPr id="55" name="Google Shape;55;p13"/>
          <p:cNvSpPr/>
          <p:nvPr/>
        </p:nvSpPr>
        <p:spPr>
          <a:xfrm>
            <a:off x="1005350" y="543525"/>
            <a:ext cx="1163700" cy="8169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GoPro video for SfM</a:t>
            </a:r>
            <a:endParaRPr sz="1200">
              <a:latin typeface="Roboto"/>
              <a:ea typeface="Roboto"/>
              <a:cs typeface="Roboto"/>
              <a:sym typeface="Roboto"/>
            </a:endParaRPr>
          </a:p>
        </p:txBody>
      </p:sp>
      <p:sp>
        <p:nvSpPr>
          <p:cNvPr id="56" name="Google Shape;56;p13"/>
          <p:cNvSpPr/>
          <p:nvPr/>
        </p:nvSpPr>
        <p:spPr>
          <a:xfrm>
            <a:off x="2408313" y="543525"/>
            <a:ext cx="12222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parseFramesFromVideo.py</a:t>
            </a:r>
            <a:endParaRPr sz="1200">
              <a:latin typeface="Roboto"/>
              <a:ea typeface="Roboto"/>
              <a:cs typeface="Roboto"/>
              <a:sym typeface="Roboto"/>
            </a:endParaRPr>
          </a:p>
        </p:txBody>
      </p:sp>
      <p:sp>
        <p:nvSpPr>
          <p:cNvPr id="57" name="Google Shape;57;p13"/>
          <p:cNvSpPr/>
          <p:nvPr/>
        </p:nvSpPr>
        <p:spPr>
          <a:xfrm>
            <a:off x="2493513" y="1647056"/>
            <a:ext cx="1051800" cy="816900"/>
          </a:xfrm>
          <a:prstGeom prst="roundRect">
            <a:avLst>
              <a:gd name="adj" fmla="val 16667"/>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Images for Agisoft</a:t>
            </a:r>
            <a:endParaRPr sz="1200">
              <a:latin typeface="Roboto"/>
              <a:ea typeface="Roboto"/>
              <a:cs typeface="Roboto"/>
              <a:sym typeface="Roboto"/>
            </a:endParaRPr>
          </a:p>
        </p:txBody>
      </p:sp>
      <p:sp>
        <p:nvSpPr>
          <p:cNvPr id="58" name="Google Shape;58;p13"/>
          <p:cNvSpPr/>
          <p:nvPr/>
        </p:nvSpPr>
        <p:spPr>
          <a:xfrm>
            <a:off x="2408313" y="2750588"/>
            <a:ext cx="12222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createModelsStep1.py</a:t>
            </a:r>
            <a:endParaRPr sz="1200">
              <a:latin typeface="Roboto"/>
              <a:ea typeface="Roboto"/>
              <a:cs typeface="Roboto"/>
              <a:sym typeface="Roboto"/>
            </a:endParaRPr>
          </a:p>
        </p:txBody>
      </p:sp>
      <p:sp>
        <p:nvSpPr>
          <p:cNvPr id="59" name="Google Shape;59;p13"/>
          <p:cNvSpPr/>
          <p:nvPr/>
        </p:nvSpPr>
        <p:spPr>
          <a:xfrm>
            <a:off x="3870363" y="2750588"/>
            <a:ext cx="1051800" cy="816900"/>
          </a:xfrm>
          <a:prstGeom prst="roundRect">
            <a:avLst>
              <a:gd name="adj" fmla="val 16667"/>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Sparse point cloud</a:t>
            </a:r>
            <a:endParaRPr sz="1200">
              <a:latin typeface="Roboto"/>
              <a:ea typeface="Roboto"/>
              <a:cs typeface="Roboto"/>
              <a:sym typeface="Roboto"/>
            </a:endParaRPr>
          </a:p>
        </p:txBody>
      </p:sp>
      <p:sp>
        <p:nvSpPr>
          <p:cNvPr id="60" name="Google Shape;60;p13"/>
          <p:cNvSpPr/>
          <p:nvPr/>
        </p:nvSpPr>
        <p:spPr>
          <a:xfrm>
            <a:off x="5162013" y="2750588"/>
            <a:ext cx="1518600" cy="816900"/>
          </a:xfrm>
          <a:prstGeom prst="roundRect">
            <a:avLst>
              <a:gd name="adj" fmla="val 16667"/>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Manual reference marking and scaling</a:t>
            </a:r>
            <a:endParaRPr sz="1200">
              <a:latin typeface="Roboto"/>
              <a:ea typeface="Roboto"/>
              <a:cs typeface="Roboto"/>
              <a:sym typeface="Roboto"/>
            </a:endParaRPr>
          </a:p>
        </p:txBody>
      </p:sp>
      <p:sp>
        <p:nvSpPr>
          <p:cNvPr id="61" name="Google Shape;61;p13"/>
          <p:cNvSpPr/>
          <p:nvPr/>
        </p:nvSpPr>
        <p:spPr>
          <a:xfrm>
            <a:off x="6920463" y="2750588"/>
            <a:ext cx="12222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createModelsStep2.py</a:t>
            </a:r>
            <a:endParaRPr sz="1200">
              <a:latin typeface="Roboto"/>
              <a:ea typeface="Roboto"/>
              <a:cs typeface="Roboto"/>
              <a:sym typeface="Roboto"/>
            </a:endParaRPr>
          </a:p>
        </p:txBody>
      </p:sp>
      <p:cxnSp>
        <p:nvCxnSpPr>
          <p:cNvPr id="62" name="Google Shape;62;p13"/>
          <p:cNvCxnSpPr>
            <a:stCxn id="55" idx="3"/>
            <a:endCxn id="56" idx="1"/>
          </p:cNvCxnSpPr>
          <p:nvPr/>
        </p:nvCxnSpPr>
        <p:spPr>
          <a:xfrm>
            <a:off x="2169050" y="951975"/>
            <a:ext cx="239400" cy="0"/>
          </a:xfrm>
          <a:prstGeom prst="straightConnector1">
            <a:avLst/>
          </a:prstGeom>
          <a:noFill/>
          <a:ln w="9525" cap="flat" cmpd="sng">
            <a:solidFill>
              <a:schemeClr val="dk2"/>
            </a:solidFill>
            <a:prstDash val="solid"/>
            <a:round/>
            <a:headEnd type="none" w="med" len="med"/>
            <a:tailEnd type="triangle" w="med" len="med"/>
          </a:ln>
        </p:spPr>
      </p:cxnSp>
      <p:cxnSp>
        <p:nvCxnSpPr>
          <p:cNvPr id="63" name="Google Shape;63;p13"/>
          <p:cNvCxnSpPr>
            <a:stCxn id="56" idx="2"/>
            <a:endCxn id="57" idx="0"/>
          </p:cNvCxnSpPr>
          <p:nvPr/>
        </p:nvCxnSpPr>
        <p:spPr>
          <a:xfrm>
            <a:off x="3019413" y="1360425"/>
            <a:ext cx="0" cy="286500"/>
          </a:xfrm>
          <a:prstGeom prst="straightConnector1">
            <a:avLst/>
          </a:prstGeom>
          <a:noFill/>
          <a:ln w="9525" cap="flat" cmpd="sng">
            <a:solidFill>
              <a:schemeClr val="dk2"/>
            </a:solidFill>
            <a:prstDash val="solid"/>
            <a:round/>
            <a:headEnd type="none" w="med" len="med"/>
            <a:tailEnd type="triangle" w="med" len="med"/>
          </a:ln>
        </p:spPr>
      </p:cxnSp>
      <p:cxnSp>
        <p:nvCxnSpPr>
          <p:cNvPr id="64" name="Google Shape;64;p13"/>
          <p:cNvCxnSpPr>
            <a:stCxn id="57" idx="2"/>
            <a:endCxn id="58" idx="0"/>
          </p:cNvCxnSpPr>
          <p:nvPr/>
        </p:nvCxnSpPr>
        <p:spPr>
          <a:xfrm>
            <a:off x="3019413" y="2463956"/>
            <a:ext cx="0" cy="286500"/>
          </a:xfrm>
          <a:prstGeom prst="straightConnector1">
            <a:avLst/>
          </a:prstGeom>
          <a:noFill/>
          <a:ln w="9525" cap="flat" cmpd="sng">
            <a:solidFill>
              <a:schemeClr val="dk2"/>
            </a:solidFill>
            <a:prstDash val="solid"/>
            <a:round/>
            <a:headEnd type="none" w="med" len="med"/>
            <a:tailEnd type="triangle" w="med" len="med"/>
          </a:ln>
        </p:spPr>
      </p:cxnSp>
      <p:cxnSp>
        <p:nvCxnSpPr>
          <p:cNvPr id="65" name="Google Shape;65;p13"/>
          <p:cNvCxnSpPr>
            <a:stCxn id="58" idx="3"/>
            <a:endCxn id="59" idx="1"/>
          </p:cNvCxnSpPr>
          <p:nvPr/>
        </p:nvCxnSpPr>
        <p:spPr>
          <a:xfrm>
            <a:off x="3630513" y="3159038"/>
            <a:ext cx="240000" cy="0"/>
          </a:xfrm>
          <a:prstGeom prst="straightConnector1">
            <a:avLst/>
          </a:prstGeom>
          <a:noFill/>
          <a:ln w="9525" cap="flat" cmpd="sng">
            <a:solidFill>
              <a:schemeClr val="dk2"/>
            </a:solidFill>
            <a:prstDash val="solid"/>
            <a:round/>
            <a:headEnd type="none" w="med" len="med"/>
            <a:tailEnd type="triangle" w="med" len="med"/>
          </a:ln>
        </p:spPr>
      </p:cxnSp>
      <p:cxnSp>
        <p:nvCxnSpPr>
          <p:cNvPr id="66" name="Google Shape;66;p13"/>
          <p:cNvCxnSpPr>
            <a:stCxn id="59" idx="3"/>
            <a:endCxn id="60" idx="1"/>
          </p:cNvCxnSpPr>
          <p:nvPr/>
        </p:nvCxnSpPr>
        <p:spPr>
          <a:xfrm>
            <a:off x="4922163" y="3159038"/>
            <a:ext cx="240000" cy="0"/>
          </a:xfrm>
          <a:prstGeom prst="straightConnector1">
            <a:avLst/>
          </a:prstGeom>
          <a:noFill/>
          <a:ln w="9525" cap="flat" cmpd="sng">
            <a:solidFill>
              <a:schemeClr val="dk2"/>
            </a:solidFill>
            <a:prstDash val="solid"/>
            <a:round/>
            <a:headEnd type="none" w="med" len="med"/>
            <a:tailEnd type="triangle" w="med" len="med"/>
          </a:ln>
        </p:spPr>
      </p:cxnSp>
      <p:cxnSp>
        <p:nvCxnSpPr>
          <p:cNvPr id="67" name="Google Shape;67;p13"/>
          <p:cNvCxnSpPr>
            <a:stCxn id="60" idx="3"/>
            <a:endCxn id="61" idx="1"/>
          </p:cNvCxnSpPr>
          <p:nvPr/>
        </p:nvCxnSpPr>
        <p:spPr>
          <a:xfrm>
            <a:off x="6680613" y="3159038"/>
            <a:ext cx="240000" cy="0"/>
          </a:xfrm>
          <a:prstGeom prst="straightConnector1">
            <a:avLst/>
          </a:prstGeom>
          <a:noFill/>
          <a:ln w="9525" cap="flat" cmpd="sng">
            <a:solidFill>
              <a:schemeClr val="dk2"/>
            </a:solidFill>
            <a:prstDash val="solid"/>
            <a:round/>
            <a:headEnd type="none" w="med" len="med"/>
            <a:tailEnd type="triangle" w="med" len="med"/>
          </a:ln>
        </p:spPr>
      </p:cxnSp>
      <p:cxnSp>
        <p:nvCxnSpPr>
          <p:cNvPr id="68" name="Google Shape;68;p13"/>
          <p:cNvCxnSpPr>
            <a:stCxn id="61" idx="2"/>
            <a:endCxn id="54" idx="0"/>
          </p:cNvCxnSpPr>
          <p:nvPr/>
        </p:nvCxnSpPr>
        <p:spPr>
          <a:xfrm>
            <a:off x="7531563" y="3567488"/>
            <a:ext cx="0" cy="275400"/>
          </a:xfrm>
          <a:prstGeom prst="straightConnector1">
            <a:avLst/>
          </a:prstGeom>
          <a:noFill/>
          <a:ln w="9525" cap="flat" cmpd="sng">
            <a:solidFill>
              <a:schemeClr val="dk2"/>
            </a:solidFill>
            <a:prstDash val="solid"/>
            <a:round/>
            <a:headEnd type="none" w="med" len="med"/>
            <a:tailEnd type="triangle" w="med" len="med"/>
          </a:ln>
        </p:spPr>
      </p:cxnSp>
      <p:sp>
        <p:nvSpPr>
          <p:cNvPr id="69" name="Google Shape;69;p13"/>
          <p:cNvSpPr txBox="1"/>
          <p:nvPr/>
        </p:nvSpPr>
        <p:spPr>
          <a:xfrm>
            <a:off x="2761314" y="3501247"/>
            <a:ext cx="1051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999999"/>
                </a:solidFill>
                <a:latin typeface="Roboto"/>
                <a:ea typeface="Roboto"/>
                <a:cs typeface="Roboto"/>
                <a:sym typeface="Roboto"/>
              </a:rPr>
              <a:t>A G I S O F T</a:t>
            </a:r>
            <a:endParaRPr sz="1000">
              <a:solidFill>
                <a:srgbClr val="999999"/>
              </a:solidFill>
              <a:latin typeface="Roboto"/>
              <a:ea typeface="Roboto"/>
              <a:cs typeface="Roboto"/>
              <a:sym typeface="Roboto"/>
            </a:endParaRPr>
          </a:p>
        </p:txBody>
      </p:sp>
      <p:sp>
        <p:nvSpPr>
          <p:cNvPr id="70" name="Google Shape;70;p13"/>
          <p:cNvSpPr txBox="1"/>
          <p:nvPr/>
        </p:nvSpPr>
        <p:spPr>
          <a:xfrm>
            <a:off x="7276708" y="2481256"/>
            <a:ext cx="1051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999999"/>
                </a:solidFill>
                <a:latin typeface="Roboto"/>
                <a:ea typeface="Roboto"/>
                <a:cs typeface="Roboto"/>
                <a:sym typeface="Roboto"/>
              </a:rPr>
              <a:t>A G I S O F T</a:t>
            </a:r>
            <a:endParaRPr sz="1000">
              <a:solidFill>
                <a:srgbClr val="999999"/>
              </a:solidFill>
              <a:latin typeface="Roboto"/>
              <a:ea typeface="Roboto"/>
              <a:cs typeface="Roboto"/>
              <a:sym typeface="Roboto"/>
            </a:endParaRPr>
          </a:p>
        </p:txBody>
      </p:sp>
      <p:sp>
        <p:nvSpPr>
          <p:cNvPr id="71" name="Google Shape;71;p13"/>
          <p:cNvSpPr txBox="1"/>
          <p:nvPr/>
        </p:nvSpPr>
        <p:spPr>
          <a:xfrm>
            <a:off x="5828908" y="2481256"/>
            <a:ext cx="1051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999999"/>
                </a:solidFill>
                <a:latin typeface="Roboto"/>
                <a:ea typeface="Roboto"/>
                <a:cs typeface="Roboto"/>
                <a:sym typeface="Roboto"/>
              </a:rPr>
              <a:t>A G I S O F T</a:t>
            </a:r>
            <a:endParaRPr sz="1000">
              <a:solidFill>
                <a:srgbClr val="999999"/>
              </a:solidFill>
              <a:latin typeface="Roboto"/>
              <a:ea typeface="Roboto"/>
              <a:cs typeface="Roboto"/>
              <a:sym typeface="Roboto"/>
            </a:endParaRPr>
          </a:p>
        </p:txBody>
      </p:sp>
      <p:sp>
        <p:nvSpPr>
          <p:cNvPr id="72" name="Google Shape;72;p13"/>
          <p:cNvSpPr txBox="1"/>
          <p:nvPr/>
        </p:nvSpPr>
        <p:spPr>
          <a:xfrm>
            <a:off x="4054536" y="2481256"/>
            <a:ext cx="1051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rgbClr val="999999"/>
                </a:solidFill>
                <a:latin typeface="Roboto"/>
                <a:ea typeface="Roboto"/>
                <a:cs typeface="Roboto"/>
                <a:sym typeface="Roboto"/>
              </a:rPr>
              <a:t>A G I S O F T</a:t>
            </a:r>
            <a:endParaRPr sz="1000">
              <a:solidFill>
                <a:srgbClr val="999999"/>
              </a:solidFill>
              <a:latin typeface="Roboto"/>
              <a:ea typeface="Roboto"/>
              <a:cs typeface="Roboto"/>
              <a:sym typeface="Roboto"/>
            </a:endParaRPr>
          </a:p>
        </p:txBody>
      </p:sp>
      <p:sp>
        <p:nvSpPr>
          <p:cNvPr id="73" name="Google Shape;73;p13"/>
          <p:cNvSpPr txBox="1"/>
          <p:nvPr/>
        </p:nvSpPr>
        <p:spPr>
          <a:xfrm>
            <a:off x="64500" y="56425"/>
            <a:ext cx="45711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7B7B7"/>
                </a:solidFill>
                <a:latin typeface="Roboto"/>
                <a:ea typeface="Roboto"/>
                <a:cs typeface="Roboto"/>
                <a:sym typeface="Roboto"/>
              </a:rPr>
              <a:t>Workflow to get from video to preliminary point cloud</a:t>
            </a:r>
            <a:endParaRPr sz="1100">
              <a:solidFill>
                <a:srgbClr val="B7B7B7"/>
              </a:solidFill>
              <a:latin typeface="Roboto"/>
              <a:ea typeface="Roboto"/>
              <a:cs typeface="Roboto"/>
              <a:sym typeface="Roboto"/>
            </a:endParaRPr>
          </a:p>
        </p:txBody>
      </p:sp>
      <p:sp>
        <p:nvSpPr>
          <p:cNvPr id="74" name="Google Shape;74;p13"/>
          <p:cNvSpPr txBox="1"/>
          <p:nvPr/>
        </p:nvSpPr>
        <p:spPr>
          <a:xfrm>
            <a:off x="5126275" y="3523550"/>
            <a:ext cx="157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CCCCCC"/>
                </a:solidFill>
                <a:latin typeface="Roboto"/>
                <a:ea typeface="Roboto"/>
                <a:cs typeface="Roboto"/>
                <a:sym typeface="Roboto"/>
              </a:rPr>
              <a:t>See slide 4 for marking protocol - this tells Agisoft 1) what plot corners are what and 2) how big the plots are. I manually referenced and scaled the 1st, 50th, 100th, 150th, etc images from the full set</a:t>
            </a:r>
            <a:endParaRPr sz="700">
              <a:solidFill>
                <a:srgbClr val="CCCCCC"/>
              </a:solidFill>
              <a:latin typeface="Roboto"/>
              <a:ea typeface="Roboto"/>
              <a:cs typeface="Roboto"/>
              <a:sym typeface="Roboto"/>
            </a:endParaRPr>
          </a:p>
        </p:txBody>
      </p:sp>
      <p:sp>
        <p:nvSpPr>
          <p:cNvPr id="75" name="Google Shape;75;p13"/>
          <p:cNvSpPr txBox="1"/>
          <p:nvPr/>
        </p:nvSpPr>
        <p:spPr>
          <a:xfrm>
            <a:off x="6566027" y="4640133"/>
            <a:ext cx="20961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CCCCCC"/>
                </a:solidFill>
                <a:latin typeface="Roboto"/>
                <a:ea typeface="Roboto"/>
                <a:cs typeface="Roboto"/>
                <a:sym typeface="Roboto"/>
              </a:rPr>
              <a:t>This preliminary point cloud must then be clipped and georeferenced to TLS data (I did this in CloudCompare - see slide 2 for details)</a:t>
            </a:r>
            <a:endParaRPr sz="700">
              <a:solidFill>
                <a:srgbClr val="CCCCCC"/>
              </a:solidFill>
              <a:latin typeface="Roboto"/>
              <a:ea typeface="Roboto"/>
              <a:cs typeface="Roboto"/>
              <a:sym typeface="Roboto"/>
            </a:endParaRPr>
          </a:p>
        </p:txBody>
      </p:sp>
      <p:sp>
        <p:nvSpPr>
          <p:cNvPr id="76" name="Google Shape;76;p13"/>
          <p:cNvSpPr txBox="1"/>
          <p:nvPr/>
        </p:nvSpPr>
        <p:spPr>
          <a:xfrm>
            <a:off x="915825" y="1649938"/>
            <a:ext cx="1577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solidFill>
                  <a:srgbClr val="CCCCCC"/>
                </a:solidFill>
                <a:latin typeface="Roboto"/>
                <a:ea typeface="Roboto"/>
                <a:cs typeface="Roboto"/>
                <a:sym typeface="Roboto"/>
              </a:rPr>
              <a:t>I did a quick review here to discard the first and last images from the set, because they were usually of the technician’s shoes or hands. Also check for any weird images of the sky.</a:t>
            </a:r>
            <a:endParaRPr sz="700">
              <a:solidFill>
                <a:srgbClr val="CCCCCC"/>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pic>
        <p:nvPicPr>
          <p:cNvPr id="81" name="Google Shape;81;p14"/>
          <p:cNvPicPr preferRelativeResize="0"/>
          <p:nvPr/>
        </p:nvPicPr>
        <p:blipFill>
          <a:blip r:embed="rId3">
            <a:alphaModFix/>
          </a:blip>
          <a:stretch>
            <a:fillRect/>
          </a:stretch>
        </p:blipFill>
        <p:spPr>
          <a:xfrm>
            <a:off x="609600" y="304800"/>
            <a:ext cx="8002800" cy="4546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5"/>
          <p:cNvSpPr/>
          <p:nvPr/>
        </p:nvSpPr>
        <p:spPr>
          <a:xfrm>
            <a:off x="580825" y="429475"/>
            <a:ext cx="1163700" cy="8169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Point cloud for voxel plot (.laz or .las)</a:t>
            </a:r>
            <a:endParaRPr sz="1200">
              <a:latin typeface="Roboto"/>
              <a:ea typeface="Roboto"/>
              <a:cs typeface="Roboto"/>
              <a:sym typeface="Roboto"/>
            </a:endParaRPr>
          </a:p>
        </p:txBody>
      </p:sp>
      <p:sp>
        <p:nvSpPr>
          <p:cNvPr id="87" name="Google Shape;87;p15"/>
          <p:cNvSpPr/>
          <p:nvPr/>
        </p:nvSpPr>
        <p:spPr>
          <a:xfrm>
            <a:off x="5373063" y="429475"/>
            <a:ext cx="11637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PointCloud</a:t>
            </a:r>
            <a:endParaRPr sz="1200">
              <a:latin typeface="Roboto"/>
              <a:ea typeface="Roboto"/>
              <a:cs typeface="Roboto"/>
              <a:sym typeface="Roboto"/>
            </a:endParaRPr>
          </a:p>
          <a:p>
            <a:pPr marL="0" lvl="0" indent="0" algn="ctr" rtl="0">
              <a:spcBef>
                <a:spcPts val="0"/>
              </a:spcBef>
              <a:spcAft>
                <a:spcPts val="0"/>
              </a:spcAft>
              <a:buNone/>
            </a:pPr>
            <a:r>
              <a:rPr lang="en" sz="1200">
                <a:latin typeface="Roboto"/>
                <a:ea typeface="Roboto"/>
                <a:cs typeface="Roboto"/>
                <a:sym typeface="Roboto"/>
              </a:rPr>
              <a:t>Processing.r</a:t>
            </a:r>
            <a:endParaRPr sz="1200">
              <a:latin typeface="Roboto"/>
              <a:ea typeface="Roboto"/>
              <a:cs typeface="Roboto"/>
              <a:sym typeface="Roboto"/>
            </a:endParaRPr>
          </a:p>
        </p:txBody>
      </p:sp>
      <p:sp>
        <p:nvSpPr>
          <p:cNvPr id="88" name="Google Shape;88;p15"/>
          <p:cNvSpPr/>
          <p:nvPr/>
        </p:nvSpPr>
        <p:spPr>
          <a:xfrm>
            <a:off x="7036525" y="429475"/>
            <a:ext cx="1163700" cy="8169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Whole-plot structural metrics</a:t>
            </a:r>
            <a:endParaRPr sz="1200">
              <a:latin typeface="Roboto"/>
              <a:ea typeface="Roboto"/>
              <a:cs typeface="Roboto"/>
              <a:sym typeface="Roboto"/>
            </a:endParaRPr>
          </a:p>
        </p:txBody>
      </p:sp>
      <p:sp>
        <p:nvSpPr>
          <p:cNvPr id="89" name="Google Shape;89;p15"/>
          <p:cNvSpPr/>
          <p:nvPr/>
        </p:nvSpPr>
        <p:spPr>
          <a:xfrm>
            <a:off x="5147350" y="1599963"/>
            <a:ext cx="1163700" cy="8169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Field Structural Metrics</a:t>
            </a:r>
            <a:endParaRPr sz="1200">
              <a:latin typeface="Roboto"/>
              <a:ea typeface="Roboto"/>
              <a:cs typeface="Roboto"/>
              <a:sym typeface="Roboto"/>
            </a:endParaRPr>
          </a:p>
        </p:txBody>
      </p:sp>
      <p:sp>
        <p:nvSpPr>
          <p:cNvPr id="90" name="Google Shape;90;p15"/>
          <p:cNvSpPr/>
          <p:nvPr/>
        </p:nvSpPr>
        <p:spPr>
          <a:xfrm>
            <a:off x="5172258" y="3973325"/>
            <a:ext cx="1163700" cy="8169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Field Biomass Data</a:t>
            </a:r>
            <a:endParaRPr sz="1200">
              <a:latin typeface="Roboto"/>
              <a:ea typeface="Roboto"/>
              <a:cs typeface="Roboto"/>
              <a:sym typeface="Roboto"/>
            </a:endParaRPr>
          </a:p>
        </p:txBody>
      </p:sp>
      <p:sp>
        <p:nvSpPr>
          <p:cNvPr id="91" name="Google Shape;91;p15"/>
          <p:cNvSpPr/>
          <p:nvPr/>
        </p:nvSpPr>
        <p:spPr>
          <a:xfrm>
            <a:off x="2196038" y="429475"/>
            <a:ext cx="12222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Normalizeand</a:t>
            </a:r>
            <a:br>
              <a:rPr lang="en" sz="1200">
                <a:latin typeface="Roboto"/>
                <a:ea typeface="Roboto"/>
                <a:cs typeface="Roboto"/>
                <a:sym typeface="Roboto"/>
              </a:rPr>
            </a:br>
            <a:r>
              <a:rPr lang="en" sz="1200">
                <a:latin typeface="Roboto"/>
                <a:ea typeface="Roboto"/>
                <a:cs typeface="Roboto"/>
                <a:sym typeface="Roboto"/>
              </a:rPr>
              <a:t>Autorotate.r</a:t>
            </a:r>
            <a:endParaRPr sz="1200">
              <a:latin typeface="Roboto"/>
              <a:ea typeface="Roboto"/>
              <a:cs typeface="Roboto"/>
              <a:sym typeface="Roboto"/>
            </a:endParaRPr>
          </a:p>
        </p:txBody>
      </p:sp>
      <p:sp>
        <p:nvSpPr>
          <p:cNvPr id="92" name="Google Shape;92;p15"/>
          <p:cNvSpPr/>
          <p:nvPr/>
        </p:nvSpPr>
        <p:spPr>
          <a:xfrm>
            <a:off x="3869750" y="429475"/>
            <a:ext cx="1051800" cy="816900"/>
          </a:xfrm>
          <a:prstGeom prst="roundRect">
            <a:avLst>
              <a:gd name="adj" fmla="val 16667"/>
            </a:avLst>
          </a:prstGeom>
          <a:solidFill>
            <a:srgbClr val="D0E0E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Adjusted point cloud</a:t>
            </a:r>
            <a:endParaRPr sz="1200">
              <a:latin typeface="Roboto"/>
              <a:ea typeface="Roboto"/>
              <a:cs typeface="Roboto"/>
              <a:sym typeface="Roboto"/>
            </a:endParaRPr>
          </a:p>
        </p:txBody>
      </p:sp>
      <p:sp>
        <p:nvSpPr>
          <p:cNvPr id="93" name="Google Shape;93;p15"/>
          <p:cNvSpPr/>
          <p:nvPr/>
        </p:nvSpPr>
        <p:spPr>
          <a:xfrm>
            <a:off x="6959575" y="3973325"/>
            <a:ext cx="1317600" cy="816900"/>
          </a:xfrm>
          <a:prstGeom prst="roundRect">
            <a:avLst>
              <a:gd name="adj" fmla="val 16667"/>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Analysis-ready dataframe</a:t>
            </a:r>
            <a:endParaRPr sz="1200">
              <a:latin typeface="Roboto"/>
              <a:ea typeface="Roboto"/>
              <a:cs typeface="Roboto"/>
              <a:sym typeface="Roboto"/>
            </a:endParaRPr>
          </a:p>
        </p:txBody>
      </p:sp>
      <p:sp>
        <p:nvSpPr>
          <p:cNvPr id="94" name="Google Shape;94;p15"/>
          <p:cNvSpPr/>
          <p:nvPr/>
        </p:nvSpPr>
        <p:spPr>
          <a:xfrm>
            <a:off x="7036525" y="2209600"/>
            <a:ext cx="11637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FullData</a:t>
            </a:r>
            <a:br>
              <a:rPr lang="en" sz="1200">
                <a:latin typeface="Roboto"/>
                <a:ea typeface="Roboto"/>
                <a:cs typeface="Roboto"/>
                <a:sym typeface="Roboto"/>
              </a:rPr>
            </a:br>
            <a:r>
              <a:rPr lang="en" sz="1200">
                <a:latin typeface="Roboto"/>
                <a:ea typeface="Roboto"/>
                <a:cs typeface="Roboto"/>
                <a:sym typeface="Roboto"/>
              </a:rPr>
              <a:t>FramePrep.r</a:t>
            </a:r>
            <a:endParaRPr sz="1200">
              <a:latin typeface="Roboto"/>
              <a:ea typeface="Roboto"/>
              <a:cs typeface="Roboto"/>
              <a:sym typeface="Roboto"/>
            </a:endParaRPr>
          </a:p>
        </p:txBody>
      </p:sp>
      <p:sp>
        <p:nvSpPr>
          <p:cNvPr id="95" name="Google Shape;95;p15"/>
          <p:cNvSpPr/>
          <p:nvPr/>
        </p:nvSpPr>
        <p:spPr>
          <a:xfrm>
            <a:off x="1691525" y="3973325"/>
            <a:ext cx="1163700" cy="816900"/>
          </a:xfrm>
          <a:prstGeom prst="roundRect">
            <a:avLst>
              <a:gd name="adj" fmla="val 16667"/>
            </a:avLst>
          </a:prstGeom>
          <a:solidFill>
            <a:srgbClr val="FCE5C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200">
                <a:latin typeface="Roboto"/>
                <a:ea typeface="Roboto"/>
                <a:cs typeface="Roboto"/>
                <a:sym typeface="Roboto"/>
              </a:rPr>
              <a:t>Biomass by Stratum Dataset</a:t>
            </a:r>
            <a:endParaRPr sz="1200">
              <a:latin typeface="Roboto"/>
              <a:ea typeface="Roboto"/>
              <a:cs typeface="Roboto"/>
              <a:sym typeface="Roboto"/>
            </a:endParaRPr>
          </a:p>
        </p:txBody>
      </p:sp>
      <p:sp>
        <p:nvSpPr>
          <p:cNvPr id="96" name="Google Shape;96;p15"/>
          <p:cNvSpPr/>
          <p:nvPr/>
        </p:nvSpPr>
        <p:spPr>
          <a:xfrm>
            <a:off x="3402642" y="3973325"/>
            <a:ext cx="1222200" cy="816900"/>
          </a:xfrm>
          <a:prstGeom prst="roundRect">
            <a:avLst>
              <a:gd name="adj" fmla="val 16667"/>
            </a:avLst>
          </a:prstGeom>
          <a:solidFill>
            <a:srgbClr val="EAD1D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Biomass</a:t>
            </a:r>
            <a:br>
              <a:rPr lang="en" sz="1200">
                <a:latin typeface="Roboto"/>
                <a:ea typeface="Roboto"/>
                <a:cs typeface="Roboto"/>
                <a:sym typeface="Roboto"/>
              </a:rPr>
            </a:br>
            <a:r>
              <a:rPr lang="en" sz="1200">
                <a:latin typeface="Roboto"/>
                <a:ea typeface="Roboto"/>
                <a:cs typeface="Roboto"/>
                <a:sym typeface="Roboto"/>
              </a:rPr>
              <a:t>DataPrep.r</a:t>
            </a:r>
            <a:endParaRPr sz="1200">
              <a:latin typeface="Roboto"/>
              <a:ea typeface="Roboto"/>
              <a:cs typeface="Roboto"/>
              <a:sym typeface="Roboto"/>
            </a:endParaRPr>
          </a:p>
        </p:txBody>
      </p:sp>
      <p:cxnSp>
        <p:nvCxnSpPr>
          <p:cNvPr id="97" name="Google Shape;97;p15"/>
          <p:cNvCxnSpPr>
            <a:stCxn id="86" idx="3"/>
            <a:endCxn id="91" idx="1"/>
          </p:cNvCxnSpPr>
          <p:nvPr/>
        </p:nvCxnSpPr>
        <p:spPr>
          <a:xfrm>
            <a:off x="1744525" y="837925"/>
            <a:ext cx="451500" cy="0"/>
          </a:xfrm>
          <a:prstGeom prst="straightConnector1">
            <a:avLst/>
          </a:prstGeom>
          <a:noFill/>
          <a:ln w="9525" cap="flat" cmpd="sng">
            <a:solidFill>
              <a:schemeClr val="dk2"/>
            </a:solidFill>
            <a:prstDash val="solid"/>
            <a:round/>
            <a:headEnd type="none" w="med" len="med"/>
            <a:tailEnd type="triangle" w="med" len="med"/>
          </a:ln>
        </p:spPr>
      </p:cxnSp>
      <p:cxnSp>
        <p:nvCxnSpPr>
          <p:cNvPr id="98" name="Google Shape;98;p15"/>
          <p:cNvCxnSpPr>
            <a:stCxn id="91" idx="3"/>
            <a:endCxn id="92" idx="1"/>
          </p:cNvCxnSpPr>
          <p:nvPr/>
        </p:nvCxnSpPr>
        <p:spPr>
          <a:xfrm>
            <a:off x="3418238" y="837925"/>
            <a:ext cx="451500" cy="0"/>
          </a:xfrm>
          <a:prstGeom prst="straightConnector1">
            <a:avLst/>
          </a:prstGeom>
          <a:noFill/>
          <a:ln w="9525" cap="flat" cmpd="sng">
            <a:solidFill>
              <a:schemeClr val="dk2"/>
            </a:solidFill>
            <a:prstDash val="solid"/>
            <a:round/>
            <a:headEnd type="none" w="med" len="med"/>
            <a:tailEnd type="triangle" w="med" len="med"/>
          </a:ln>
        </p:spPr>
      </p:cxnSp>
      <p:cxnSp>
        <p:nvCxnSpPr>
          <p:cNvPr id="99" name="Google Shape;99;p15"/>
          <p:cNvCxnSpPr>
            <a:stCxn id="92" idx="3"/>
            <a:endCxn id="87" idx="1"/>
          </p:cNvCxnSpPr>
          <p:nvPr/>
        </p:nvCxnSpPr>
        <p:spPr>
          <a:xfrm>
            <a:off x="4921550" y="837925"/>
            <a:ext cx="451500" cy="0"/>
          </a:xfrm>
          <a:prstGeom prst="straightConnector1">
            <a:avLst/>
          </a:prstGeom>
          <a:noFill/>
          <a:ln w="9525" cap="flat" cmpd="sng">
            <a:solidFill>
              <a:schemeClr val="dk2"/>
            </a:solidFill>
            <a:prstDash val="solid"/>
            <a:round/>
            <a:headEnd type="none" w="med" len="med"/>
            <a:tailEnd type="triangle" w="med" len="med"/>
          </a:ln>
        </p:spPr>
      </p:cxnSp>
      <p:cxnSp>
        <p:nvCxnSpPr>
          <p:cNvPr id="100" name="Google Shape;100;p15"/>
          <p:cNvCxnSpPr>
            <a:stCxn id="87" idx="3"/>
            <a:endCxn id="88" idx="1"/>
          </p:cNvCxnSpPr>
          <p:nvPr/>
        </p:nvCxnSpPr>
        <p:spPr>
          <a:xfrm>
            <a:off x="6536763" y="837925"/>
            <a:ext cx="499800" cy="0"/>
          </a:xfrm>
          <a:prstGeom prst="straightConnector1">
            <a:avLst/>
          </a:prstGeom>
          <a:noFill/>
          <a:ln w="9525" cap="flat" cmpd="sng">
            <a:solidFill>
              <a:schemeClr val="dk2"/>
            </a:solidFill>
            <a:prstDash val="solid"/>
            <a:round/>
            <a:headEnd type="none" w="med" len="med"/>
            <a:tailEnd type="triangle" w="med" len="med"/>
          </a:ln>
        </p:spPr>
      </p:cxnSp>
      <p:cxnSp>
        <p:nvCxnSpPr>
          <p:cNvPr id="101" name="Google Shape;101;p15"/>
          <p:cNvCxnSpPr>
            <a:stCxn id="88" idx="2"/>
          </p:cNvCxnSpPr>
          <p:nvPr/>
        </p:nvCxnSpPr>
        <p:spPr>
          <a:xfrm>
            <a:off x="7618375" y="1246375"/>
            <a:ext cx="0" cy="963300"/>
          </a:xfrm>
          <a:prstGeom prst="straightConnector1">
            <a:avLst/>
          </a:prstGeom>
          <a:noFill/>
          <a:ln w="9525" cap="flat" cmpd="sng">
            <a:solidFill>
              <a:schemeClr val="dk2"/>
            </a:solidFill>
            <a:prstDash val="solid"/>
            <a:round/>
            <a:headEnd type="none" w="med" len="med"/>
            <a:tailEnd type="triangle" w="med" len="med"/>
          </a:ln>
        </p:spPr>
      </p:cxnSp>
      <p:cxnSp>
        <p:nvCxnSpPr>
          <p:cNvPr id="102" name="Google Shape;102;p15"/>
          <p:cNvCxnSpPr>
            <a:stCxn id="94" idx="2"/>
            <a:endCxn id="93" idx="0"/>
          </p:cNvCxnSpPr>
          <p:nvPr/>
        </p:nvCxnSpPr>
        <p:spPr>
          <a:xfrm>
            <a:off x="7618375" y="3026500"/>
            <a:ext cx="0" cy="946800"/>
          </a:xfrm>
          <a:prstGeom prst="straightConnector1">
            <a:avLst/>
          </a:prstGeom>
          <a:noFill/>
          <a:ln w="9525" cap="flat" cmpd="sng">
            <a:solidFill>
              <a:schemeClr val="dk2"/>
            </a:solidFill>
            <a:prstDash val="solid"/>
            <a:round/>
            <a:headEnd type="none" w="med" len="med"/>
            <a:tailEnd type="triangle" w="med" len="med"/>
          </a:ln>
        </p:spPr>
      </p:cxnSp>
      <p:cxnSp>
        <p:nvCxnSpPr>
          <p:cNvPr id="103" name="Google Shape;103;p15"/>
          <p:cNvCxnSpPr>
            <a:stCxn id="95" idx="3"/>
            <a:endCxn id="96" idx="1"/>
          </p:cNvCxnSpPr>
          <p:nvPr/>
        </p:nvCxnSpPr>
        <p:spPr>
          <a:xfrm>
            <a:off x="2855225" y="4381775"/>
            <a:ext cx="547500" cy="0"/>
          </a:xfrm>
          <a:prstGeom prst="straightConnector1">
            <a:avLst/>
          </a:prstGeom>
          <a:noFill/>
          <a:ln w="9525" cap="flat" cmpd="sng">
            <a:solidFill>
              <a:schemeClr val="dk2"/>
            </a:solidFill>
            <a:prstDash val="solid"/>
            <a:round/>
            <a:headEnd type="none" w="med" len="med"/>
            <a:tailEnd type="triangle" w="med" len="med"/>
          </a:ln>
        </p:spPr>
      </p:cxnSp>
      <p:cxnSp>
        <p:nvCxnSpPr>
          <p:cNvPr id="104" name="Google Shape;104;p15"/>
          <p:cNvCxnSpPr>
            <a:stCxn id="96" idx="3"/>
            <a:endCxn id="90" idx="1"/>
          </p:cNvCxnSpPr>
          <p:nvPr/>
        </p:nvCxnSpPr>
        <p:spPr>
          <a:xfrm>
            <a:off x="4624842" y="4381775"/>
            <a:ext cx="547500" cy="0"/>
          </a:xfrm>
          <a:prstGeom prst="straightConnector1">
            <a:avLst/>
          </a:prstGeom>
          <a:noFill/>
          <a:ln w="9525" cap="flat" cmpd="sng">
            <a:solidFill>
              <a:schemeClr val="dk2"/>
            </a:solidFill>
            <a:prstDash val="solid"/>
            <a:round/>
            <a:headEnd type="none" w="med" len="med"/>
            <a:tailEnd type="triangle" w="med" len="med"/>
          </a:ln>
        </p:spPr>
      </p:cxnSp>
      <p:sp>
        <p:nvSpPr>
          <p:cNvPr id="105" name="Google Shape;105;p15"/>
          <p:cNvSpPr/>
          <p:nvPr/>
        </p:nvSpPr>
        <p:spPr>
          <a:xfrm>
            <a:off x="5095300" y="2786650"/>
            <a:ext cx="1317600" cy="816900"/>
          </a:xfrm>
          <a:prstGeom prst="roundRect">
            <a:avLst>
              <a:gd name="adj" fmla="val 16667"/>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latin typeface="Roboto"/>
                <a:ea typeface="Roboto"/>
                <a:cs typeface="Roboto"/>
                <a:sym typeface="Roboto"/>
              </a:rPr>
              <a:t>All Sites - Field Occupied Voxels</a:t>
            </a:r>
            <a:endParaRPr sz="1200">
              <a:latin typeface="Roboto"/>
              <a:ea typeface="Roboto"/>
              <a:cs typeface="Roboto"/>
              <a:sym typeface="Roboto"/>
            </a:endParaRPr>
          </a:p>
        </p:txBody>
      </p:sp>
      <p:cxnSp>
        <p:nvCxnSpPr>
          <p:cNvPr id="106" name="Google Shape;106;p15"/>
          <p:cNvCxnSpPr>
            <a:stCxn id="89" idx="3"/>
            <a:endCxn id="94" idx="1"/>
          </p:cNvCxnSpPr>
          <p:nvPr/>
        </p:nvCxnSpPr>
        <p:spPr>
          <a:xfrm>
            <a:off x="6311050" y="2008413"/>
            <a:ext cx="725400" cy="609600"/>
          </a:xfrm>
          <a:prstGeom prst="bentConnector3">
            <a:avLst>
              <a:gd name="adj1" fmla="val 40285"/>
            </a:avLst>
          </a:prstGeom>
          <a:noFill/>
          <a:ln w="9525" cap="flat" cmpd="sng">
            <a:solidFill>
              <a:schemeClr val="dk2"/>
            </a:solidFill>
            <a:prstDash val="solid"/>
            <a:round/>
            <a:headEnd type="none" w="med" len="med"/>
            <a:tailEnd type="triangle" w="med" len="med"/>
          </a:ln>
        </p:spPr>
      </p:cxnSp>
      <p:cxnSp>
        <p:nvCxnSpPr>
          <p:cNvPr id="107" name="Google Shape;107;p15"/>
          <p:cNvCxnSpPr>
            <a:stCxn id="105" idx="3"/>
            <a:endCxn id="94" idx="1"/>
          </p:cNvCxnSpPr>
          <p:nvPr/>
        </p:nvCxnSpPr>
        <p:spPr>
          <a:xfrm rot="10800000" flipH="1">
            <a:off x="6412900" y="2617900"/>
            <a:ext cx="623700" cy="577200"/>
          </a:xfrm>
          <a:prstGeom prst="bentConnector3">
            <a:avLst>
              <a:gd name="adj1" fmla="val 43090"/>
            </a:avLst>
          </a:prstGeom>
          <a:noFill/>
          <a:ln w="9525" cap="flat" cmpd="sng">
            <a:solidFill>
              <a:schemeClr val="dk2"/>
            </a:solidFill>
            <a:prstDash val="solid"/>
            <a:round/>
            <a:headEnd type="none" w="med" len="med"/>
            <a:tailEnd type="none" w="med" len="med"/>
          </a:ln>
        </p:spPr>
      </p:cxnSp>
      <p:cxnSp>
        <p:nvCxnSpPr>
          <p:cNvPr id="108" name="Google Shape;108;p15"/>
          <p:cNvCxnSpPr>
            <a:stCxn id="90" idx="3"/>
            <a:endCxn id="94" idx="1"/>
          </p:cNvCxnSpPr>
          <p:nvPr/>
        </p:nvCxnSpPr>
        <p:spPr>
          <a:xfrm rot="10800000" flipH="1">
            <a:off x="6335958" y="2618075"/>
            <a:ext cx="700500" cy="1763700"/>
          </a:xfrm>
          <a:prstGeom prst="bentConnector3">
            <a:avLst>
              <a:gd name="adj1" fmla="val 50005"/>
            </a:avLst>
          </a:prstGeom>
          <a:noFill/>
          <a:ln w="9525" cap="flat" cmpd="sng">
            <a:solidFill>
              <a:schemeClr val="dk2"/>
            </a:solidFill>
            <a:prstDash val="solid"/>
            <a:round/>
            <a:headEnd type="none" w="med" len="med"/>
            <a:tailEnd type="none" w="med" len="med"/>
          </a:ln>
        </p:spPr>
      </p:cxnSp>
      <p:sp>
        <p:nvSpPr>
          <p:cNvPr id="109" name="Google Shape;109;p15"/>
          <p:cNvSpPr txBox="1"/>
          <p:nvPr/>
        </p:nvSpPr>
        <p:spPr>
          <a:xfrm>
            <a:off x="64500" y="56425"/>
            <a:ext cx="6094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7B7B7"/>
                </a:solidFill>
                <a:latin typeface="Roboto"/>
                <a:ea typeface="Roboto"/>
                <a:cs typeface="Roboto"/>
                <a:sym typeface="Roboto"/>
              </a:rPr>
              <a:t>Workflow to get from clipped and georeferenced point cloud to dataframe</a:t>
            </a:r>
            <a:endParaRPr sz="1100">
              <a:solidFill>
                <a:srgbClr val="B7B7B7"/>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6"/>
          <p:cNvSpPr/>
          <p:nvPr/>
        </p:nvSpPr>
        <p:spPr>
          <a:xfrm>
            <a:off x="3422438" y="2415513"/>
            <a:ext cx="891600" cy="89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6"/>
          <p:cNvSpPr/>
          <p:nvPr/>
        </p:nvSpPr>
        <p:spPr>
          <a:xfrm>
            <a:off x="5052800" y="981850"/>
            <a:ext cx="891600" cy="89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6"/>
          <p:cNvSpPr/>
          <p:nvPr/>
        </p:nvSpPr>
        <p:spPr>
          <a:xfrm>
            <a:off x="5052800" y="3849175"/>
            <a:ext cx="891600" cy="89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6"/>
          <p:cNvSpPr/>
          <p:nvPr/>
        </p:nvSpPr>
        <p:spPr>
          <a:xfrm>
            <a:off x="1792075" y="3849175"/>
            <a:ext cx="891600" cy="89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6"/>
          <p:cNvSpPr/>
          <p:nvPr/>
        </p:nvSpPr>
        <p:spPr>
          <a:xfrm>
            <a:off x="1792075" y="981850"/>
            <a:ext cx="891600" cy="891600"/>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6"/>
          <p:cNvSpPr txBox="1"/>
          <p:nvPr/>
        </p:nvSpPr>
        <p:spPr>
          <a:xfrm>
            <a:off x="5227550" y="1196800"/>
            <a:ext cx="542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Montserrat"/>
                <a:ea typeface="Montserrat"/>
                <a:cs typeface="Montserrat"/>
                <a:sym typeface="Montserrat"/>
              </a:rPr>
              <a:t>NE</a:t>
            </a:r>
            <a:endParaRPr sz="1800">
              <a:latin typeface="Montserrat"/>
              <a:ea typeface="Montserrat"/>
              <a:cs typeface="Montserrat"/>
              <a:sym typeface="Montserrat"/>
            </a:endParaRPr>
          </a:p>
        </p:txBody>
      </p:sp>
      <p:sp>
        <p:nvSpPr>
          <p:cNvPr id="120" name="Google Shape;120;p16"/>
          <p:cNvSpPr txBox="1"/>
          <p:nvPr/>
        </p:nvSpPr>
        <p:spPr>
          <a:xfrm>
            <a:off x="1936758" y="1180624"/>
            <a:ext cx="69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Montserrat"/>
                <a:ea typeface="Montserrat"/>
                <a:cs typeface="Montserrat"/>
                <a:sym typeface="Montserrat"/>
              </a:rPr>
              <a:t>NW</a:t>
            </a:r>
            <a:endParaRPr sz="1800">
              <a:latin typeface="Montserrat"/>
              <a:ea typeface="Montserrat"/>
              <a:cs typeface="Montserrat"/>
              <a:sym typeface="Montserrat"/>
            </a:endParaRPr>
          </a:p>
        </p:txBody>
      </p:sp>
      <p:sp>
        <p:nvSpPr>
          <p:cNvPr id="121" name="Google Shape;121;p16"/>
          <p:cNvSpPr txBox="1"/>
          <p:nvPr/>
        </p:nvSpPr>
        <p:spPr>
          <a:xfrm>
            <a:off x="3522957" y="2630474"/>
            <a:ext cx="6906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latin typeface="Montserrat"/>
                <a:ea typeface="Montserrat"/>
                <a:cs typeface="Montserrat"/>
                <a:sym typeface="Montserrat"/>
              </a:rPr>
              <a:t>CTR</a:t>
            </a:r>
            <a:endParaRPr sz="1800">
              <a:latin typeface="Montserrat"/>
              <a:ea typeface="Montserrat"/>
              <a:cs typeface="Montserrat"/>
              <a:sym typeface="Montserrat"/>
            </a:endParaRPr>
          </a:p>
        </p:txBody>
      </p:sp>
      <p:sp>
        <p:nvSpPr>
          <p:cNvPr id="122" name="Google Shape;122;p16"/>
          <p:cNvSpPr txBox="1"/>
          <p:nvPr/>
        </p:nvSpPr>
        <p:spPr>
          <a:xfrm>
            <a:off x="5153308" y="4064124"/>
            <a:ext cx="690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Montserrat"/>
                <a:ea typeface="Montserrat"/>
                <a:cs typeface="Montserrat"/>
                <a:sym typeface="Montserrat"/>
              </a:rPr>
              <a:t>SE</a:t>
            </a:r>
            <a:endParaRPr sz="1800">
              <a:latin typeface="Montserrat"/>
              <a:ea typeface="Montserrat"/>
              <a:cs typeface="Montserrat"/>
              <a:sym typeface="Montserrat"/>
            </a:endParaRPr>
          </a:p>
        </p:txBody>
      </p:sp>
      <p:sp>
        <p:nvSpPr>
          <p:cNvPr id="123" name="Google Shape;123;p16"/>
          <p:cNvSpPr txBox="1"/>
          <p:nvPr/>
        </p:nvSpPr>
        <p:spPr>
          <a:xfrm>
            <a:off x="1892583" y="4064124"/>
            <a:ext cx="690600" cy="461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800">
                <a:latin typeface="Montserrat"/>
                <a:ea typeface="Montserrat"/>
                <a:cs typeface="Montserrat"/>
                <a:sym typeface="Montserrat"/>
              </a:rPr>
              <a:t>SW</a:t>
            </a:r>
            <a:endParaRPr sz="1800">
              <a:latin typeface="Montserrat"/>
              <a:ea typeface="Montserrat"/>
              <a:cs typeface="Montserrat"/>
              <a:sym typeface="Montserrat"/>
            </a:endParaRPr>
          </a:p>
        </p:txBody>
      </p:sp>
      <p:cxnSp>
        <p:nvCxnSpPr>
          <p:cNvPr id="124" name="Google Shape;124;p16"/>
          <p:cNvCxnSpPr/>
          <p:nvPr/>
        </p:nvCxnSpPr>
        <p:spPr>
          <a:xfrm rot="10800000">
            <a:off x="1646325" y="446850"/>
            <a:ext cx="144300" cy="538500"/>
          </a:xfrm>
          <a:prstGeom prst="straightConnector1">
            <a:avLst/>
          </a:prstGeom>
          <a:noFill/>
          <a:ln w="38100" cap="flat" cmpd="sng">
            <a:solidFill>
              <a:srgbClr val="B7B7B7"/>
            </a:solidFill>
            <a:prstDash val="solid"/>
            <a:round/>
            <a:headEnd type="none" w="med" len="med"/>
            <a:tailEnd type="none" w="med" len="med"/>
          </a:ln>
        </p:spPr>
      </p:cxnSp>
      <p:cxnSp>
        <p:nvCxnSpPr>
          <p:cNvPr id="125" name="Google Shape;125;p16"/>
          <p:cNvCxnSpPr/>
          <p:nvPr/>
        </p:nvCxnSpPr>
        <p:spPr>
          <a:xfrm rot="10800000">
            <a:off x="4908500" y="446850"/>
            <a:ext cx="144300" cy="538500"/>
          </a:xfrm>
          <a:prstGeom prst="straightConnector1">
            <a:avLst/>
          </a:prstGeom>
          <a:noFill/>
          <a:ln w="38100" cap="flat" cmpd="sng">
            <a:solidFill>
              <a:srgbClr val="B7B7B7"/>
            </a:solidFill>
            <a:prstDash val="solid"/>
            <a:round/>
            <a:headEnd type="none" w="med" len="med"/>
            <a:tailEnd type="none" w="med" len="med"/>
          </a:ln>
        </p:spPr>
      </p:cxnSp>
      <p:cxnSp>
        <p:nvCxnSpPr>
          <p:cNvPr id="126" name="Google Shape;126;p16"/>
          <p:cNvCxnSpPr/>
          <p:nvPr/>
        </p:nvCxnSpPr>
        <p:spPr>
          <a:xfrm rot="10800000">
            <a:off x="3278150" y="1877025"/>
            <a:ext cx="144300" cy="538500"/>
          </a:xfrm>
          <a:prstGeom prst="straightConnector1">
            <a:avLst/>
          </a:prstGeom>
          <a:noFill/>
          <a:ln w="38100" cap="flat" cmpd="sng">
            <a:solidFill>
              <a:srgbClr val="B7B7B7"/>
            </a:solidFill>
            <a:prstDash val="solid"/>
            <a:round/>
            <a:headEnd type="none" w="med" len="med"/>
            <a:tailEnd type="none" w="med" len="med"/>
          </a:ln>
        </p:spPr>
      </p:cxnSp>
      <p:cxnSp>
        <p:nvCxnSpPr>
          <p:cNvPr id="127" name="Google Shape;127;p16"/>
          <p:cNvCxnSpPr/>
          <p:nvPr/>
        </p:nvCxnSpPr>
        <p:spPr>
          <a:xfrm rot="10800000">
            <a:off x="4908500" y="3310675"/>
            <a:ext cx="144300" cy="538500"/>
          </a:xfrm>
          <a:prstGeom prst="straightConnector1">
            <a:avLst/>
          </a:prstGeom>
          <a:noFill/>
          <a:ln w="38100" cap="flat" cmpd="sng">
            <a:solidFill>
              <a:srgbClr val="B7B7B7"/>
            </a:solidFill>
            <a:prstDash val="solid"/>
            <a:round/>
            <a:headEnd type="none" w="med" len="med"/>
            <a:tailEnd type="none" w="med" len="med"/>
          </a:ln>
        </p:spPr>
      </p:cxnSp>
      <p:cxnSp>
        <p:nvCxnSpPr>
          <p:cNvPr id="128" name="Google Shape;128;p16"/>
          <p:cNvCxnSpPr/>
          <p:nvPr/>
        </p:nvCxnSpPr>
        <p:spPr>
          <a:xfrm rot="10800000">
            <a:off x="1646325" y="3310675"/>
            <a:ext cx="144300" cy="538500"/>
          </a:xfrm>
          <a:prstGeom prst="straightConnector1">
            <a:avLst/>
          </a:prstGeom>
          <a:noFill/>
          <a:ln w="38100" cap="flat" cmpd="sng">
            <a:solidFill>
              <a:srgbClr val="B7B7B7"/>
            </a:solidFill>
            <a:prstDash val="solid"/>
            <a:round/>
            <a:headEnd type="none" w="med" len="med"/>
            <a:tailEnd type="none" w="med" len="med"/>
          </a:ln>
        </p:spPr>
      </p:cxnSp>
      <p:sp>
        <p:nvSpPr>
          <p:cNvPr id="129" name="Google Shape;129;p16"/>
          <p:cNvSpPr txBox="1"/>
          <p:nvPr/>
        </p:nvSpPr>
        <p:spPr>
          <a:xfrm>
            <a:off x="3367950" y="2084566"/>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a:t>
            </a:r>
            <a:endParaRPr b="1">
              <a:solidFill>
                <a:schemeClr val="accent5"/>
              </a:solidFill>
              <a:latin typeface="Montserrat"/>
              <a:ea typeface="Montserrat"/>
              <a:cs typeface="Montserrat"/>
              <a:sym typeface="Montserrat"/>
            </a:endParaRPr>
          </a:p>
        </p:txBody>
      </p:sp>
      <p:sp>
        <p:nvSpPr>
          <p:cNvPr id="130" name="Google Shape;130;p16"/>
          <p:cNvSpPr txBox="1"/>
          <p:nvPr/>
        </p:nvSpPr>
        <p:spPr>
          <a:xfrm>
            <a:off x="4179924" y="2102050"/>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2</a:t>
            </a:r>
            <a:endParaRPr b="1">
              <a:solidFill>
                <a:schemeClr val="accent5"/>
              </a:solidFill>
              <a:latin typeface="Montserrat"/>
              <a:ea typeface="Montserrat"/>
              <a:cs typeface="Montserrat"/>
              <a:sym typeface="Montserrat"/>
            </a:endParaRPr>
          </a:p>
        </p:txBody>
      </p:sp>
      <p:sp>
        <p:nvSpPr>
          <p:cNvPr id="131" name="Google Shape;131;p16"/>
          <p:cNvSpPr txBox="1"/>
          <p:nvPr/>
        </p:nvSpPr>
        <p:spPr>
          <a:xfrm>
            <a:off x="4175335" y="3225724"/>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3</a:t>
            </a:r>
            <a:endParaRPr b="1">
              <a:solidFill>
                <a:schemeClr val="accent5"/>
              </a:solidFill>
              <a:latin typeface="Montserrat"/>
              <a:ea typeface="Montserrat"/>
              <a:cs typeface="Montserrat"/>
              <a:sym typeface="Montserrat"/>
            </a:endParaRPr>
          </a:p>
        </p:txBody>
      </p:sp>
      <p:sp>
        <p:nvSpPr>
          <p:cNvPr id="132" name="Google Shape;132;p16"/>
          <p:cNvSpPr txBox="1"/>
          <p:nvPr/>
        </p:nvSpPr>
        <p:spPr>
          <a:xfrm>
            <a:off x="3239451" y="3237866"/>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4</a:t>
            </a:r>
            <a:endParaRPr b="1">
              <a:solidFill>
                <a:schemeClr val="accent5"/>
              </a:solidFill>
              <a:latin typeface="Montserrat"/>
              <a:ea typeface="Montserrat"/>
              <a:cs typeface="Montserrat"/>
              <a:sym typeface="Montserrat"/>
            </a:endParaRPr>
          </a:p>
        </p:txBody>
      </p:sp>
      <p:sp>
        <p:nvSpPr>
          <p:cNvPr id="133" name="Google Shape;133;p16"/>
          <p:cNvSpPr txBox="1"/>
          <p:nvPr/>
        </p:nvSpPr>
        <p:spPr>
          <a:xfrm>
            <a:off x="5026574" y="656000"/>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5</a:t>
            </a:r>
            <a:endParaRPr b="1">
              <a:solidFill>
                <a:schemeClr val="accent5"/>
              </a:solidFill>
              <a:latin typeface="Montserrat"/>
              <a:ea typeface="Montserrat"/>
              <a:cs typeface="Montserrat"/>
              <a:sym typeface="Montserrat"/>
            </a:endParaRPr>
          </a:p>
        </p:txBody>
      </p:sp>
      <p:sp>
        <p:nvSpPr>
          <p:cNvPr id="134" name="Google Shape;134;p16"/>
          <p:cNvSpPr txBox="1"/>
          <p:nvPr/>
        </p:nvSpPr>
        <p:spPr>
          <a:xfrm>
            <a:off x="5843899" y="656000"/>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6</a:t>
            </a:r>
            <a:endParaRPr b="1">
              <a:solidFill>
                <a:schemeClr val="accent5"/>
              </a:solidFill>
              <a:latin typeface="Montserrat"/>
              <a:ea typeface="Montserrat"/>
              <a:cs typeface="Montserrat"/>
              <a:sym typeface="Montserrat"/>
            </a:endParaRPr>
          </a:p>
        </p:txBody>
      </p:sp>
      <p:sp>
        <p:nvSpPr>
          <p:cNvPr id="135" name="Google Shape;135;p16"/>
          <p:cNvSpPr txBox="1"/>
          <p:nvPr/>
        </p:nvSpPr>
        <p:spPr>
          <a:xfrm>
            <a:off x="5838940" y="1783341"/>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7</a:t>
            </a:r>
            <a:endParaRPr b="1">
              <a:solidFill>
                <a:schemeClr val="accent5"/>
              </a:solidFill>
              <a:latin typeface="Montserrat"/>
              <a:ea typeface="Montserrat"/>
              <a:cs typeface="Montserrat"/>
              <a:sym typeface="Montserrat"/>
            </a:endParaRPr>
          </a:p>
        </p:txBody>
      </p:sp>
      <p:sp>
        <p:nvSpPr>
          <p:cNvPr id="136" name="Google Shape;136;p16"/>
          <p:cNvSpPr txBox="1"/>
          <p:nvPr/>
        </p:nvSpPr>
        <p:spPr>
          <a:xfrm>
            <a:off x="4891016" y="1795970"/>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8</a:t>
            </a:r>
            <a:endParaRPr b="1">
              <a:solidFill>
                <a:schemeClr val="accent5"/>
              </a:solidFill>
              <a:latin typeface="Montserrat"/>
              <a:ea typeface="Montserrat"/>
              <a:cs typeface="Montserrat"/>
              <a:sym typeface="Montserrat"/>
            </a:endParaRPr>
          </a:p>
        </p:txBody>
      </p:sp>
      <p:sp>
        <p:nvSpPr>
          <p:cNvPr id="137" name="Google Shape;137;p16"/>
          <p:cNvSpPr txBox="1"/>
          <p:nvPr/>
        </p:nvSpPr>
        <p:spPr>
          <a:xfrm>
            <a:off x="1755657" y="652350"/>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9</a:t>
            </a:r>
            <a:endParaRPr b="1">
              <a:solidFill>
                <a:schemeClr val="accent5"/>
              </a:solidFill>
              <a:latin typeface="Montserrat"/>
              <a:ea typeface="Montserrat"/>
              <a:cs typeface="Montserrat"/>
              <a:sym typeface="Montserrat"/>
            </a:endParaRPr>
          </a:p>
        </p:txBody>
      </p:sp>
      <p:sp>
        <p:nvSpPr>
          <p:cNvPr id="138" name="Google Shape;138;p16"/>
          <p:cNvSpPr txBox="1"/>
          <p:nvPr/>
        </p:nvSpPr>
        <p:spPr>
          <a:xfrm>
            <a:off x="2511241" y="658609"/>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10</a:t>
            </a:r>
            <a:endParaRPr b="1">
              <a:solidFill>
                <a:schemeClr val="accent5"/>
              </a:solidFill>
              <a:latin typeface="Montserrat"/>
              <a:ea typeface="Montserrat"/>
              <a:cs typeface="Montserrat"/>
              <a:sym typeface="Montserrat"/>
            </a:endParaRPr>
          </a:p>
        </p:txBody>
      </p:sp>
      <p:sp>
        <p:nvSpPr>
          <p:cNvPr id="139" name="Google Shape;139;p16"/>
          <p:cNvSpPr txBox="1"/>
          <p:nvPr/>
        </p:nvSpPr>
        <p:spPr>
          <a:xfrm>
            <a:off x="2541951" y="1795842"/>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11</a:t>
            </a:r>
            <a:endParaRPr b="1">
              <a:solidFill>
                <a:schemeClr val="accent5"/>
              </a:solidFill>
              <a:latin typeface="Montserrat"/>
              <a:ea typeface="Montserrat"/>
              <a:cs typeface="Montserrat"/>
              <a:sym typeface="Montserrat"/>
            </a:endParaRPr>
          </a:p>
        </p:txBody>
      </p:sp>
      <p:sp>
        <p:nvSpPr>
          <p:cNvPr id="140" name="Google Shape;140;p16"/>
          <p:cNvSpPr txBox="1"/>
          <p:nvPr/>
        </p:nvSpPr>
        <p:spPr>
          <a:xfrm>
            <a:off x="1628850" y="1814743"/>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12</a:t>
            </a:r>
            <a:endParaRPr b="1">
              <a:solidFill>
                <a:schemeClr val="accent5"/>
              </a:solidFill>
              <a:latin typeface="Montserrat"/>
              <a:ea typeface="Montserrat"/>
              <a:cs typeface="Montserrat"/>
              <a:sym typeface="Montserrat"/>
            </a:endParaRPr>
          </a:p>
        </p:txBody>
      </p:sp>
      <p:sp>
        <p:nvSpPr>
          <p:cNvPr id="141" name="Google Shape;141;p16"/>
          <p:cNvSpPr txBox="1"/>
          <p:nvPr/>
        </p:nvSpPr>
        <p:spPr>
          <a:xfrm>
            <a:off x="4976617" y="3525825"/>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13</a:t>
            </a:r>
            <a:endParaRPr b="1">
              <a:solidFill>
                <a:schemeClr val="accent5"/>
              </a:solidFill>
              <a:latin typeface="Montserrat"/>
              <a:ea typeface="Montserrat"/>
              <a:cs typeface="Montserrat"/>
              <a:sym typeface="Montserrat"/>
            </a:endParaRPr>
          </a:p>
        </p:txBody>
      </p:sp>
      <p:sp>
        <p:nvSpPr>
          <p:cNvPr id="142" name="Google Shape;142;p16"/>
          <p:cNvSpPr txBox="1"/>
          <p:nvPr/>
        </p:nvSpPr>
        <p:spPr>
          <a:xfrm>
            <a:off x="5791458" y="3520866"/>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14</a:t>
            </a:r>
            <a:endParaRPr b="1">
              <a:solidFill>
                <a:schemeClr val="accent5"/>
              </a:solidFill>
              <a:latin typeface="Montserrat"/>
              <a:ea typeface="Montserrat"/>
              <a:cs typeface="Montserrat"/>
              <a:sym typeface="Montserrat"/>
            </a:endParaRPr>
          </a:p>
        </p:txBody>
      </p:sp>
      <p:sp>
        <p:nvSpPr>
          <p:cNvPr id="143" name="Google Shape;143;p16"/>
          <p:cNvSpPr txBox="1"/>
          <p:nvPr/>
        </p:nvSpPr>
        <p:spPr>
          <a:xfrm>
            <a:off x="5795797" y="4652351"/>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15</a:t>
            </a:r>
            <a:endParaRPr b="1">
              <a:solidFill>
                <a:schemeClr val="accent5"/>
              </a:solidFill>
              <a:latin typeface="Montserrat"/>
              <a:ea typeface="Montserrat"/>
              <a:cs typeface="Montserrat"/>
              <a:sym typeface="Montserrat"/>
            </a:endParaRPr>
          </a:p>
        </p:txBody>
      </p:sp>
      <p:sp>
        <p:nvSpPr>
          <p:cNvPr id="144" name="Google Shape;144;p16"/>
          <p:cNvSpPr txBox="1"/>
          <p:nvPr/>
        </p:nvSpPr>
        <p:spPr>
          <a:xfrm>
            <a:off x="4873541" y="4664880"/>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16</a:t>
            </a:r>
            <a:endParaRPr b="1">
              <a:solidFill>
                <a:schemeClr val="accent5"/>
              </a:solidFill>
              <a:latin typeface="Montserrat"/>
              <a:ea typeface="Montserrat"/>
              <a:cs typeface="Montserrat"/>
              <a:sym typeface="Montserrat"/>
            </a:endParaRPr>
          </a:p>
        </p:txBody>
      </p:sp>
      <p:sp>
        <p:nvSpPr>
          <p:cNvPr id="145" name="Google Shape;145;p16"/>
          <p:cNvSpPr txBox="1"/>
          <p:nvPr/>
        </p:nvSpPr>
        <p:spPr>
          <a:xfrm>
            <a:off x="1757116" y="3534692"/>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17</a:t>
            </a:r>
            <a:endParaRPr b="1">
              <a:solidFill>
                <a:schemeClr val="accent5"/>
              </a:solidFill>
              <a:latin typeface="Montserrat"/>
              <a:ea typeface="Montserrat"/>
              <a:cs typeface="Montserrat"/>
              <a:sym typeface="Montserrat"/>
            </a:endParaRPr>
          </a:p>
        </p:txBody>
      </p:sp>
      <p:sp>
        <p:nvSpPr>
          <p:cNvPr id="146" name="Google Shape;146;p16"/>
          <p:cNvSpPr txBox="1"/>
          <p:nvPr/>
        </p:nvSpPr>
        <p:spPr>
          <a:xfrm>
            <a:off x="2495765" y="3523493"/>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18</a:t>
            </a:r>
            <a:endParaRPr b="1">
              <a:solidFill>
                <a:schemeClr val="accent5"/>
              </a:solidFill>
              <a:latin typeface="Montserrat"/>
              <a:ea typeface="Montserrat"/>
              <a:cs typeface="Montserrat"/>
              <a:sym typeface="Montserrat"/>
            </a:endParaRPr>
          </a:p>
        </p:txBody>
      </p:sp>
      <p:sp>
        <p:nvSpPr>
          <p:cNvPr id="147" name="Google Shape;147;p16"/>
          <p:cNvSpPr txBox="1"/>
          <p:nvPr/>
        </p:nvSpPr>
        <p:spPr>
          <a:xfrm>
            <a:off x="2496316" y="4662424"/>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19</a:t>
            </a:r>
            <a:endParaRPr b="1">
              <a:solidFill>
                <a:schemeClr val="accent5"/>
              </a:solidFill>
              <a:latin typeface="Montserrat"/>
              <a:ea typeface="Montserrat"/>
              <a:cs typeface="Montserrat"/>
              <a:sym typeface="Montserrat"/>
            </a:endParaRPr>
          </a:p>
        </p:txBody>
      </p:sp>
      <p:sp>
        <p:nvSpPr>
          <p:cNvPr id="148" name="Google Shape;148;p16"/>
          <p:cNvSpPr txBox="1"/>
          <p:nvPr/>
        </p:nvSpPr>
        <p:spPr>
          <a:xfrm>
            <a:off x="1593026" y="4669834"/>
            <a:ext cx="498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accent5"/>
                </a:solidFill>
                <a:latin typeface="Montserrat"/>
                <a:ea typeface="Montserrat"/>
                <a:cs typeface="Montserrat"/>
                <a:sym typeface="Montserrat"/>
              </a:rPr>
              <a:t>20</a:t>
            </a:r>
            <a:endParaRPr b="1">
              <a:solidFill>
                <a:schemeClr val="accent5"/>
              </a:solidFill>
              <a:latin typeface="Montserrat"/>
              <a:ea typeface="Montserrat"/>
              <a:cs typeface="Montserrat"/>
              <a:sym typeface="Montserrat"/>
            </a:endParaRPr>
          </a:p>
        </p:txBody>
      </p:sp>
      <p:sp>
        <p:nvSpPr>
          <p:cNvPr id="149" name="Google Shape;149;p16"/>
          <p:cNvSpPr txBox="1"/>
          <p:nvPr/>
        </p:nvSpPr>
        <p:spPr>
          <a:xfrm>
            <a:off x="7301630" y="544100"/>
            <a:ext cx="1002900" cy="118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chemeClr val="accent3"/>
                </a:solidFill>
                <a:latin typeface="Montserrat"/>
                <a:ea typeface="Montserrat"/>
                <a:cs typeface="Montserrat"/>
                <a:sym typeface="Montserrat"/>
              </a:rPr>
              <a:t>CTR</a:t>
            </a:r>
            <a:r>
              <a:rPr lang="en" sz="1300" b="1">
                <a:latin typeface="Montserrat"/>
                <a:ea typeface="Montserrat"/>
                <a:cs typeface="Montserrat"/>
                <a:sym typeface="Montserrat"/>
              </a:rPr>
              <a:t> </a:t>
            </a:r>
            <a:r>
              <a:rPr lang="en" sz="1300">
                <a:solidFill>
                  <a:schemeClr val="dk2"/>
                </a:solidFill>
                <a:latin typeface="Montserrat"/>
                <a:ea typeface="Montserrat"/>
                <a:cs typeface="Montserrat"/>
                <a:sym typeface="Montserrat"/>
              </a:rPr>
              <a:t>1-4</a:t>
            </a:r>
            <a:endParaRPr sz="1300">
              <a:solidFill>
                <a:schemeClr val="dk2"/>
              </a:solidFill>
              <a:latin typeface="Montserrat"/>
              <a:ea typeface="Montserrat"/>
              <a:cs typeface="Montserrat"/>
              <a:sym typeface="Montserrat"/>
            </a:endParaRPr>
          </a:p>
          <a:p>
            <a:pPr marL="0" lvl="0" indent="0" algn="l" rtl="0">
              <a:spcBef>
                <a:spcPts val="0"/>
              </a:spcBef>
              <a:spcAft>
                <a:spcPts val="0"/>
              </a:spcAft>
              <a:buNone/>
            </a:pPr>
            <a:r>
              <a:rPr lang="en" sz="1300" b="1">
                <a:solidFill>
                  <a:schemeClr val="accent3"/>
                </a:solidFill>
                <a:latin typeface="Montserrat"/>
                <a:ea typeface="Montserrat"/>
                <a:cs typeface="Montserrat"/>
                <a:sym typeface="Montserrat"/>
              </a:rPr>
              <a:t>NE</a:t>
            </a:r>
            <a:r>
              <a:rPr lang="en" sz="1300" b="1">
                <a:latin typeface="Montserrat"/>
                <a:ea typeface="Montserrat"/>
                <a:cs typeface="Montserrat"/>
                <a:sym typeface="Montserrat"/>
              </a:rPr>
              <a:t> </a:t>
            </a:r>
            <a:r>
              <a:rPr lang="en" sz="1300">
                <a:solidFill>
                  <a:schemeClr val="dk2"/>
                </a:solidFill>
                <a:latin typeface="Montserrat"/>
                <a:ea typeface="Montserrat"/>
                <a:cs typeface="Montserrat"/>
                <a:sym typeface="Montserrat"/>
              </a:rPr>
              <a:t>5-8</a:t>
            </a:r>
            <a:endParaRPr sz="1300">
              <a:solidFill>
                <a:schemeClr val="dk2"/>
              </a:solidFill>
              <a:latin typeface="Montserrat"/>
              <a:ea typeface="Montserrat"/>
              <a:cs typeface="Montserrat"/>
              <a:sym typeface="Montserrat"/>
            </a:endParaRPr>
          </a:p>
          <a:p>
            <a:pPr marL="0" lvl="0" indent="0" algn="l" rtl="0">
              <a:spcBef>
                <a:spcPts val="0"/>
              </a:spcBef>
              <a:spcAft>
                <a:spcPts val="0"/>
              </a:spcAft>
              <a:buNone/>
            </a:pPr>
            <a:r>
              <a:rPr lang="en" sz="1300" b="1">
                <a:solidFill>
                  <a:schemeClr val="accent3"/>
                </a:solidFill>
                <a:latin typeface="Montserrat"/>
                <a:ea typeface="Montserrat"/>
                <a:cs typeface="Montserrat"/>
                <a:sym typeface="Montserrat"/>
              </a:rPr>
              <a:t>NW</a:t>
            </a:r>
            <a:r>
              <a:rPr lang="en" sz="1300" b="1">
                <a:latin typeface="Montserrat"/>
                <a:ea typeface="Montserrat"/>
                <a:cs typeface="Montserrat"/>
                <a:sym typeface="Montserrat"/>
              </a:rPr>
              <a:t> </a:t>
            </a:r>
            <a:r>
              <a:rPr lang="en" sz="1300">
                <a:solidFill>
                  <a:schemeClr val="dk2"/>
                </a:solidFill>
                <a:latin typeface="Montserrat"/>
                <a:ea typeface="Montserrat"/>
                <a:cs typeface="Montserrat"/>
                <a:sym typeface="Montserrat"/>
              </a:rPr>
              <a:t>9-12</a:t>
            </a:r>
            <a:endParaRPr sz="1300">
              <a:solidFill>
                <a:schemeClr val="dk2"/>
              </a:solidFill>
              <a:latin typeface="Montserrat"/>
              <a:ea typeface="Montserrat"/>
              <a:cs typeface="Montserrat"/>
              <a:sym typeface="Montserrat"/>
            </a:endParaRPr>
          </a:p>
          <a:p>
            <a:pPr marL="0" lvl="0" indent="0" algn="l" rtl="0">
              <a:spcBef>
                <a:spcPts val="0"/>
              </a:spcBef>
              <a:spcAft>
                <a:spcPts val="0"/>
              </a:spcAft>
              <a:buNone/>
            </a:pPr>
            <a:r>
              <a:rPr lang="en" sz="1300" b="1">
                <a:solidFill>
                  <a:schemeClr val="accent3"/>
                </a:solidFill>
                <a:latin typeface="Montserrat"/>
                <a:ea typeface="Montserrat"/>
                <a:cs typeface="Montserrat"/>
                <a:sym typeface="Montserrat"/>
              </a:rPr>
              <a:t>SE </a:t>
            </a:r>
            <a:r>
              <a:rPr lang="en" sz="1300">
                <a:solidFill>
                  <a:schemeClr val="dk2"/>
                </a:solidFill>
                <a:latin typeface="Montserrat"/>
                <a:ea typeface="Montserrat"/>
                <a:cs typeface="Montserrat"/>
                <a:sym typeface="Montserrat"/>
              </a:rPr>
              <a:t>13-16</a:t>
            </a:r>
            <a:endParaRPr sz="1300">
              <a:solidFill>
                <a:schemeClr val="dk2"/>
              </a:solidFill>
              <a:latin typeface="Montserrat"/>
              <a:ea typeface="Montserrat"/>
              <a:cs typeface="Montserrat"/>
              <a:sym typeface="Montserrat"/>
            </a:endParaRPr>
          </a:p>
          <a:p>
            <a:pPr marL="0" lvl="0" indent="0" algn="l" rtl="0">
              <a:spcBef>
                <a:spcPts val="0"/>
              </a:spcBef>
              <a:spcAft>
                <a:spcPts val="0"/>
              </a:spcAft>
              <a:buNone/>
            </a:pPr>
            <a:r>
              <a:rPr lang="en" sz="1300" b="1">
                <a:solidFill>
                  <a:schemeClr val="accent3"/>
                </a:solidFill>
                <a:latin typeface="Montserrat"/>
                <a:ea typeface="Montserrat"/>
                <a:cs typeface="Montserrat"/>
                <a:sym typeface="Montserrat"/>
              </a:rPr>
              <a:t>SW </a:t>
            </a:r>
            <a:r>
              <a:rPr lang="en" sz="1300">
                <a:solidFill>
                  <a:schemeClr val="dk2"/>
                </a:solidFill>
                <a:latin typeface="Montserrat"/>
                <a:ea typeface="Montserrat"/>
                <a:cs typeface="Montserrat"/>
                <a:sym typeface="Montserrat"/>
              </a:rPr>
              <a:t>17-20</a:t>
            </a:r>
            <a:endParaRPr sz="1300">
              <a:solidFill>
                <a:schemeClr val="dk2"/>
              </a:solidFill>
              <a:latin typeface="Montserrat"/>
              <a:ea typeface="Montserrat"/>
              <a:cs typeface="Montserrat"/>
              <a:sym typeface="Montserrat"/>
            </a:endParaRPr>
          </a:p>
        </p:txBody>
      </p:sp>
      <p:sp>
        <p:nvSpPr>
          <p:cNvPr id="150" name="Google Shape;150;p16"/>
          <p:cNvSpPr txBox="1"/>
          <p:nvPr/>
        </p:nvSpPr>
        <p:spPr>
          <a:xfrm>
            <a:off x="7277625" y="1966650"/>
            <a:ext cx="1460400" cy="252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CCCCCC"/>
                </a:solidFill>
                <a:latin typeface="Roboto"/>
                <a:ea typeface="Roboto"/>
                <a:cs typeface="Roboto"/>
                <a:sym typeface="Roboto"/>
              </a:rPr>
              <a:t>In Agisoft, manual placement of reference markers is necessary, otherwise the software may think two different frames are the same and will try to stitch them together in the point cloud (imagine CTR getting merged with NE - weird things happen). For each 5x5, I kept the order of the markers consistent based on this schema. Once markers were placed, I also used the scale option to tell Agisoft that the distance between 1 and 2 was 0.5 m, the distance between 1 and 4 was 0.5 m, and so on.</a:t>
            </a:r>
            <a:endParaRPr sz="800">
              <a:solidFill>
                <a:srgbClr val="CCCCCC"/>
              </a:solidFill>
              <a:latin typeface="Roboto"/>
              <a:ea typeface="Roboto"/>
              <a:cs typeface="Roboto"/>
              <a:sym typeface="Roboto"/>
            </a:endParaRPr>
          </a:p>
        </p:txBody>
      </p:sp>
      <p:sp>
        <p:nvSpPr>
          <p:cNvPr id="151" name="Google Shape;151;p16"/>
          <p:cNvSpPr txBox="1"/>
          <p:nvPr/>
        </p:nvSpPr>
        <p:spPr>
          <a:xfrm>
            <a:off x="64500" y="56425"/>
            <a:ext cx="60948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B7B7B7"/>
                </a:solidFill>
                <a:latin typeface="Roboto"/>
                <a:ea typeface="Roboto"/>
                <a:cs typeface="Roboto"/>
                <a:sym typeface="Roboto"/>
              </a:rPr>
              <a:t>Reference marker schema in Agisoft</a:t>
            </a:r>
            <a:endParaRPr sz="1100">
              <a:solidFill>
                <a:srgbClr val="B7B7B7"/>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7126</TotalTime>
  <Words>479</Words>
  <Application>Microsoft Macintosh PowerPoint</Application>
  <PresentationFormat>On-screen Show (16:9)</PresentationFormat>
  <Paragraphs>91</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Montserrat</vt:lpstr>
      <vt:lpstr>Roboto</vt:lpstr>
      <vt:lpstr>Arial</vt:lpstr>
      <vt:lpstr>Simple Light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Brian Drye</cp:lastModifiedBy>
  <cp:revision>5</cp:revision>
  <dcterms:modified xsi:type="dcterms:W3CDTF">2024-08-06T16:29:14Z</dcterms:modified>
</cp:coreProperties>
</file>